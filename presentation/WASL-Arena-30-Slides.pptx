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promise: one family, three games, one fair AI referee. WASL means connection: the app connects physical family play to digital judging. This is our Cycle 3 entry for AI for Family: Family AI Game 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is that any family can play physical games at home and get a judge they can trust. Trust comes from evidence, not from confidence.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had the 'was that a goal' argument. Existing apps either need manual scoring or give black-box answers. Families will not trust a judge that cannot explain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play builds connection across generations. The UAE Year of Family theme makes this timely. We keep screens as a host and judge, not as the entertainment itself: the fun is physical.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requirements from the Cycle 3 question: working website or app, AI observing real play through video and audio, three games with football, team and individual play, host sets up and runs, shows results with reasons.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WASL Arena is a complete host-and-judge application. Eight screens take a family from registration to the final cup. Three games each show a different AI skill.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audience gets something: families get fair play, hosts get control, judges get proof. The AI is useful because it is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idea we want judges to remember. Every judgment can be replayed with the video, the detections drawn on top, the rule applied, the score change and a status. Click any event, see exactly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mirrors the brief: choose a game, players and teams, rules and ready, round in play, AI judge results, final results, then choose another game.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Exactly three games, as Cycle 3 requires: football plus two originals. Team and individual play are both covered. Each game uses a different AI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of one to three play a mini match on camera. Fixed camera, bright ball, contrasting shirts, calibrated goals. The AI tracks, detects goals and measures possession. The official brief says the MVP is the player with the most ball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Classical, explainable computer vision. HSV colour segmentation finds ball and shirts; contour shape and area filter noise; nearest-neighbour tracking follows players; we only use positions that were actually observed.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verified goal: the AI saw the ball outside the zone, then inside for several consecutive samples. The evidence frames before, at and after the moment are attached. A goal whose entry was not observed becomes needs review.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Falaj is the traditional UAE irrigation system. Teams build a channel network with printed tiles on a 5 by 5 board. Three farms need water; a rock blocks the middle; 90 seconds per round.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corner markers give us a homography. Each tile has a marker whose id gives its type and whose rotation gives its orientation. We build a graph and run breadth first search from the well, following only matching open sides. Anything else is a leak.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are deterministic. Three farms is nine points, each leak costs one, and a fast finish adds up to two. The tie break prefers the shortest valid network.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individual game inspired by UAE markets. The host gives a shopping mission and budget. The player picks product cards, shows each to the camera and says its name. Different from a guessing game: it is about choosing, speaking and staying in budget.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Cards are recognised by printed markers; speech is transcribed by an AI model, server side. The model only produces text. Matching and scoring are deterministic code, so the AI can never invent points.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basket shows each verified card with price, remaining budget and the transcript with timestamps. Mismatches between what is said and what is shown are flagged for the host.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host console covers camera or microphone recording, upload, importing an external AI report, timer, turn order, penalties and the verified scoreboard.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screen to remember. Select an event and the video jumps to the moment. You see the rule, the points, the status and the evidence frames. The host can accept or reject, and the score is recomputed by the same rule engine.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React frontend on Vercel, FastAPI judge on Render with FFmpeg and OpenCV. Rule engines are pure Python. The transcription key lives only on the server.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deliberately use explainable methods. Classical vision for tracking and markers, graph search for Falaj, a speech model for transcription only, and deterministic rule engines for scoring.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videos are hashed on upload. Reports are sealed with a digest and an HMAC signature. Edit any character and verification fails. Host decisions re-seal the report, but keep the original AI seal.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deterministic rules, visible uncertainty, contestable calls. Privacy: no face identification, players are colour tracks mapped to names the host types; keys stay server side; families should film only their own game with consent.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 three layers: the rule engines in isolation, the full video-to-score pipelines on fixtures with known ground truth, and the API flow including review and tampering. We are explicit that fixtures are synthetic.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are read from the evaluation file that the test run generates. Forty six of forty six tests passed. All nine synthetic fixtures matched ground truth. The speech check used a live transcription model call.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is deployed from GitHub to Vercel; the judge runs on Render because video processing needs Python, FFmpeg and OpenCV. The frontend reaches the judge through an environment variable and all credentials stay on the server. We verified the live deployment: routes load, the header badge says AI judge online, a Falaj clip uploaded to the live judge was scored 11 with a valid seal, and CORS accepts only the Vercel origin. Free tier hosting sleeps when idle, so the first request can take about 30 seconds.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upfront about limits. Next steps are real footage evaluation, pretrained detectors, jersey number reading, and audio cues.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idea: a fair referee shows its evidence, admits doubt and lets people decide. WASL Arena does that for three games.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C6A36B"/>
                </a:solidFill>
                <a:latin typeface="Calibri"/>
              </a:rPr>
              <a:t>1</a:t>
            </a:r>
          </a:p>
        </p:txBody>
      </p:sp>
      <p:sp>
        <p:nvSpPr>
          <p:cNvPr id="4" name="TextBox 3"/>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F7F3EB"/>
                </a:solidFill>
                <a:latin typeface="Calibri"/>
              </a:rPr>
              <a:t>WASL Arena · Team 204 · Code AYUCK · Cycle 3 (grades 9-12) · May Ahmed Mourad, Shamsa Faris Almazrouei, Fatima Mohamed Almazrouei</a:t>
            </a:r>
          </a:p>
        </p:txBody>
      </p:sp>
      <p:sp>
        <p:nvSpPr>
          <p:cNvPr id="5" name="TextBox 4"/>
          <p:cNvSpPr txBox="1"/>
          <p:nvPr/>
        </p:nvSpPr>
        <p:spPr>
          <a:xfrm>
            <a:off x="731520" y="1463040"/>
            <a:ext cx="7315200" cy="365760"/>
          </a:xfrm>
          <a:prstGeom prst="rect">
            <a:avLst/>
          </a:prstGeom>
          <a:noFill/>
        </p:spPr>
        <p:txBody>
          <a:bodyPr wrap="square" anchor="t" lIns="45720" rIns="45720">
            <a:spAutoFit/>
          </a:bodyPr>
          <a:lstStyle/>
          <a:p>
            <a:pPr algn="l"/>
            <a:r>
              <a:rPr sz="1300" b="1">
                <a:solidFill>
                  <a:srgbClr val="C6A36B"/>
                </a:solidFill>
                <a:latin typeface="Calibri"/>
              </a:rPr>
              <a:t>6TH ANNUAL COE STEM PROGRAMMING WITH AI · CYCLE 3 · AI FOR FAMILY</a:t>
            </a:r>
          </a:p>
        </p:txBody>
      </p:sp>
      <p:sp>
        <p:nvSpPr>
          <p:cNvPr id="6" name="TextBox 5"/>
          <p:cNvSpPr txBox="1"/>
          <p:nvPr/>
        </p:nvSpPr>
        <p:spPr>
          <a:xfrm>
            <a:off x="731520" y="1920240"/>
            <a:ext cx="7315200" cy="1280160"/>
          </a:xfrm>
          <a:prstGeom prst="rect">
            <a:avLst/>
          </a:prstGeom>
          <a:noFill/>
        </p:spPr>
        <p:txBody>
          <a:bodyPr wrap="square" anchor="t" lIns="45720" rIns="45720">
            <a:spAutoFit/>
          </a:bodyPr>
          <a:lstStyle/>
          <a:p>
            <a:pPr algn="l"/>
            <a:r>
              <a:rPr sz="7200" b="1">
                <a:solidFill>
                  <a:srgbClr val="F7F3EB"/>
                </a:solidFill>
                <a:latin typeface="Cambria"/>
              </a:rPr>
              <a:t>WASL Arena</a:t>
            </a:r>
          </a:p>
        </p:txBody>
      </p:sp>
      <p:sp>
        <p:nvSpPr>
          <p:cNvPr id="7" name="TextBox 6"/>
          <p:cNvSpPr txBox="1"/>
          <p:nvPr/>
        </p:nvSpPr>
        <p:spPr>
          <a:xfrm>
            <a:off x="731520" y="3291840"/>
            <a:ext cx="6217920" cy="1280160"/>
          </a:xfrm>
          <a:prstGeom prst="rect">
            <a:avLst/>
          </a:prstGeom>
          <a:noFill/>
        </p:spPr>
        <p:txBody>
          <a:bodyPr wrap="square" anchor="t" lIns="45720" rIns="45720">
            <a:spAutoFit/>
          </a:bodyPr>
          <a:lstStyle/>
          <a:p>
            <a:pPr algn="l"/>
            <a:r>
              <a:rPr sz="2600" b="0">
                <a:solidFill>
                  <a:srgbClr val="C6A36B"/>
                </a:solidFill>
                <a:latin typeface="Cambria"/>
              </a:rPr>
              <a:t>One family. Three games. One fair AI referee.</a:t>
            </a:r>
          </a:p>
        </p:txBody>
      </p:sp>
      <p:sp>
        <p:nvSpPr>
          <p:cNvPr id="8" name="TextBox 7"/>
          <p:cNvSpPr txBox="1"/>
          <p:nvPr/>
        </p:nvSpPr>
        <p:spPr>
          <a:xfrm>
            <a:off x="731520" y="4754880"/>
            <a:ext cx="6400800" cy="731520"/>
          </a:xfrm>
          <a:prstGeom prst="rect">
            <a:avLst/>
          </a:prstGeom>
          <a:noFill/>
        </p:spPr>
        <p:txBody>
          <a:bodyPr wrap="square" anchor="t" lIns="45720" rIns="45720">
            <a:spAutoFit/>
          </a:bodyPr>
          <a:lstStyle/>
          <a:p>
            <a:pPr algn="l"/>
            <a:r>
              <a:rPr sz="1500" b="0">
                <a:solidFill>
                  <a:srgbClr val="F7F3EB"/>
                </a:solidFill>
                <a:latin typeface="Calibri"/>
              </a:rPr>
              <a:t>Family AI Game Day · Football AI · Falaj Flow · Souq Signal</a:t>
            </a:r>
          </a:p>
          <a:p>
            <a:pPr algn="l"/>
            <a:r>
              <a:rPr sz="1500" b="0">
                <a:solidFill>
                  <a:srgbClr val="F7F3EB"/>
                </a:solidFill>
                <a:latin typeface="Calibri"/>
              </a:rPr>
              <a:t>Team 204 · Team code AYUCK · Track: Cycle 3 (grades 9-12)</a:t>
            </a:r>
          </a:p>
          <a:p>
            <a:pPr algn="l"/>
            <a:r>
              <a:rPr sz="1500" b="0">
                <a:solidFill>
                  <a:srgbClr val="F7F3EB"/>
                </a:solidFill>
                <a:latin typeface="Calibri"/>
              </a:rPr>
              <a:t>May Ahmed Mourad (G12) · Shamsa Faris Almazrouei (G12) · Fatima Mohamed Almazrouei (G11)</a:t>
            </a:r>
          </a:p>
        </p:txBody>
      </p:sp>
      <p:sp>
        <p:nvSpPr>
          <p:cNvPr id="9" name="Rectangle 8"/>
          <p:cNvSpPr/>
          <p:nvPr/>
        </p:nvSpPr>
        <p:spPr>
          <a:xfrm>
            <a:off x="7168896" y="1499616"/>
            <a:ext cx="4590288" cy="291007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1-launch.png"/>
          <p:cNvPicPr>
            <a:picLocks noChangeAspect="1"/>
          </p:cNvPicPr>
          <p:nvPr/>
        </p:nvPicPr>
        <p:blipFill>
          <a:blip r:embed="rId3"/>
          <a:stretch>
            <a:fillRect/>
          </a:stretch>
        </p:blipFill>
        <p:spPr>
          <a:xfrm>
            <a:off x="7223760" y="1554480"/>
            <a:ext cx="4480560" cy="280035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VISION</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A fair referee for every family game</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TextBox 7"/>
          <p:cNvSpPr txBox="1"/>
          <p:nvPr/>
        </p:nvSpPr>
        <p:spPr>
          <a:xfrm>
            <a:off x="548640" y="1737360"/>
            <a:ext cx="6766560" cy="4114800"/>
          </a:xfrm>
          <a:prstGeom prst="rect">
            <a:avLst/>
          </a:prstGeom>
          <a:noFill/>
        </p:spPr>
        <p:txBody>
          <a:bodyPr wrap="square">
            <a:spAutoFit/>
          </a:bodyPr>
          <a:lstStyle/>
          <a:p>
            <a:pPr>
              <a:spcAft>
                <a:spcPts val="800"/>
              </a:spcAft>
            </a:pPr>
            <a:r>
              <a:rPr sz="1600">
                <a:solidFill>
                  <a:srgbClr val="C6A36B"/>
                </a:solidFill>
              </a:rPr>
              <a:t>◆  </a:t>
            </a:r>
            <a:r>
              <a:rPr sz="2200" b="0">
                <a:solidFill>
                  <a:srgbClr val="26313C"/>
                </a:solidFill>
                <a:latin typeface="Calibri"/>
              </a:rPr>
              <a:t>Real physical play: ball, board, cards, voices</a:t>
            </a:r>
          </a:p>
          <a:p>
            <a:pPr>
              <a:spcAft>
                <a:spcPts val="800"/>
              </a:spcAft>
            </a:pPr>
            <a:r>
              <a:rPr sz="1600">
                <a:solidFill>
                  <a:srgbClr val="C6A36B"/>
                </a:solidFill>
              </a:rPr>
              <a:t>◆  </a:t>
            </a:r>
            <a:r>
              <a:rPr sz="2200" b="0">
                <a:solidFill>
                  <a:srgbClr val="26313C"/>
                </a:solidFill>
                <a:latin typeface="Calibri"/>
              </a:rPr>
              <a:t>An AI that </a:t>
            </a:r>
            <a:r>
              <a:rPr sz="2200" b="1">
                <a:solidFill>
                  <a:srgbClr val="26313C"/>
                </a:solidFill>
                <a:latin typeface="Calibri"/>
              </a:rPr>
              <a:t>watches and listens</a:t>
            </a:r>
            <a:r>
              <a:rPr sz="2200" b="0">
                <a:solidFill>
                  <a:srgbClr val="26313C"/>
                </a:solidFill>
                <a:latin typeface="Calibri"/>
              </a:rPr>
              <a:t>, then applies written rules</a:t>
            </a:r>
          </a:p>
          <a:p>
            <a:pPr>
              <a:spcAft>
                <a:spcPts val="800"/>
              </a:spcAft>
            </a:pPr>
            <a:r>
              <a:rPr sz="1600">
                <a:solidFill>
                  <a:srgbClr val="C6A36B"/>
                </a:solidFill>
              </a:rPr>
              <a:t>◆  </a:t>
            </a:r>
            <a:r>
              <a:rPr sz="2200" b="0">
                <a:solidFill>
                  <a:srgbClr val="26313C"/>
                </a:solidFill>
                <a:latin typeface="Calibri"/>
              </a:rPr>
              <a:t>Every point </a:t>
            </a:r>
            <a:r>
              <a:rPr sz="2200" b="1">
                <a:solidFill>
                  <a:srgbClr val="26313C"/>
                </a:solidFill>
                <a:latin typeface="Calibri"/>
              </a:rPr>
              <a:t>linked to replayable evidence</a:t>
            </a:r>
          </a:p>
          <a:p>
            <a:pPr>
              <a:spcAft>
                <a:spcPts val="800"/>
              </a:spcAft>
            </a:pPr>
            <a:r>
              <a:rPr sz="1600">
                <a:solidFill>
                  <a:srgbClr val="C6A36B"/>
                </a:solidFill>
              </a:rPr>
              <a:t>◆  </a:t>
            </a:r>
            <a:r>
              <a:rPr sz="2200" b="0">
                <a:solidFill>
                  <a:srgbClr val="26313C"/>
                </a:solidFill>
                <a:latin typeface="Calibri"/>
              </a:rPr>
              <a:t>A human host always has the final word</a:t>
            </a:r>
          </a:p>
          <a:p>
            <a:pPr>
              <a:spcAft>
                <a:spcPts val="800"/>
              </a:spcAft>
            </a:pPr>
            <a:r>
              <a:rPr sz="1600">
                <a:solidFill>
                  <a:srgbClr val="C6A36B"/>
                </a:solidFill>
              </a:rPr>
              <a:t>◆  </a:t>
            </a:r>
            <a:r>
              <a:rPr sz="2200" b="0">
                <a:solidFill>
                  <a:srgbClr val="26313C"/>
                </a:solidFill>
                <a:latin typeface="Calibri"/>
              </a:rPr>
              <a:t>Culture built in: </a:t>
            </a:r>
            <a:r>
              <a:rPr sz="2200" b="1">
                <a:solidFill>
                  <a:srgbClr val="26313C"/>
                </a:solidFill>
                <a:latin typeface="Calibri"/>
              </a:rPr>
              <a:t>falaj</a:t>
            </a:r>
            <a:r>
              <a:rPr sz="2200" b="0">
                <a:solidFill>
                  <a:srgbClr val="26313C"/>
                </a:solidFill>
                <a:latin typeface="Calibri"/>
              </a:rPr>
              <a:t> irrigation and the </a:t>
            </a:r>
            <a:r>
              <a:rPr sz="2200" b="1">
                <a:solidFill>
                  <a:srgbClr val="26313C"/>
                </a:solidFill>
                <a:latin typeface="Calibri"/>
              </a:rPr>
              <a:t>souq</a:t>
            </a:r>
            <a:r>
              <a:rPr sz="2200" b="0">
                <a:solidFill>
                  <a:srgbClr val="26313C"/>
                </a:solidFill>
                <a:latin typeface="Calibri"/>
              </a:rPr>
              <a:t> market</a:t>
            </a:r>
          </a:p>
        </p:txBody>
      </p:sp>
      <p:sp>
        <p:nvSpPr>
          <p:cNvPr id="9" name="Rounded Rectangle 8"/>
          <p:cNvSpPr/>
          <p:nvPr/>
        </p:nvSpPr>
        <p:spPr>
          <a:xfrm>
            <a:off x="7680960" y="1737360"/>
            <a:ext cx="3931920" cy="329184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1874519"/>
            <a:ext cx="3566160" cy="457200"/>
          </a:xfrm>
          <a:prstGeom prst="rect">
            <a:avLst/>
          </a:prstGeom>
          <a:noFill/>
        </p:spPr>
        <p:txBody>
          <a:bodyPr wrap="square" anchor="t" lIns="45720" rIns="45720">
            <a:spAutoFit/>
          </a:bodyPr>
          <a:lstStyle/>
          <a:p>
            <a:pPr algn="l"/>
            <a:r>
              <a:rPr sz="2000" b="1">
                <a:solidFill>
                  <a:srgbClr val="F7F3EB"/>
                </a:solidFill>
                <a:latin typeface="Cambria"/>
              </a:rPr>
              <a:t>Fair play = evidence + doubt</a:t>
            </a:r>
          </a:p>
        </p:txBody>
      </p:sp>
      <p:sp>
        <p:nvSpPr>
          <p:cNvPr id="11" name="TextBox 10"/>
          <p:cNvSpPr txBox="1"/>
          <p:nvPr/>
        </p:nvSpPr>
        <p:spPr>
          <a:xfrm>
            <a:off x="7863840" y="2377439"/>
            <a:ext cx="3566160" cy="2560320"/>
          </a:xfrm>
          <a:prstGeom prst="rect">
            <a:avLst/>
          </a:prstGeom>
          <a:noFill/>
        </p:spPr>
        <p:txBody>
          <a:bodyPr wrap="square" anchor="t" lIns="45720" rIns="45720">
            <a:spAutoFit/>
          </a:bodyPr>
          <a:lstStyle/>
          <a:p>
            <a:pPr algn="l"/>
            <a:r>
              <a:rPr sz="1500" b="0">
                <a:solidFill>
                  <a:srgbClr val="F7F3EB"/>
                </a:solidFill>
                <a:latin typeface="Calibri"/>
              </a:rPr>
              <a:t>If the AI cannot see it, it does not score it. Uncertain calls wait for the host.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PROBLEM</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Family games end in arguments</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3</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3611880" cy="210312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3246120" cy="457200"/>
          </a:xfrm>
          <a:prstGeom prst="rect">
            <a:avLst/>
          </a:prstGeom>
          <a:noFill/>
        </p:spPr>
        <p:txBody>
          <a:bodyPr wrap="square" anchor="t" lIns="45720" rIns="45720">
            <a:spAutoFit/>
          </a:bodyPr>
          <a:lstStyle/>
          <a:p>
            <a:pPr algn="l"/>
            <a:r>
              <a:rPr sz="2000" b="1">
                <a:solidFill>
                  <a:srgbClr val="12243A"/>
                </a:solidFill>
                <a:latin typeface="Cambria"/>
              </a:rPr>
              <a:t>“Was that a goal?”</a:t>
            </a:r>
          </a:p>
        </p:txBody>
      </p:sp>
      <p:sp>
        <p:nvSpPr>
          <p:cNvPr id="10" name="TextBox 9"/>
          <p:cNvSpPr txBox="1"/>
          <p:nvPr/>
        </p:nvSpPr>
        <p:spPr>
          <a:xfrm>
            <a:off x="731520" y="2377439"/>
            <a:ext cx="3246120" cy="1371599"/>
          </a:xfrm>
          <a:prstGeom prst="rect">
            <a:avLst/>
          </a:prstGeom>
          <a:noFill/>
        </p:spPr>
        <p:txBody>
          <a:bodyPr wrap="square" anchor="t" lIns="45720" rIns="45720">
            <a:spAutoFit/>
          </a:bodyPr>
          <a:lstStyle/>
          <a:p>
            <a:pPr algn="l"/>
            <a:r>
              <a:rPr sz="1500" b="0">
                <a:solidFill>
                  <a:srgbClr val="26313C"/>
                </a:solidFill>
                <a:latin typeface="Calibri"/>
              </a:rPr>
              <a:t>Nobody agrees what the camera saw.</a:t>
            </a:r>
          </a:p>
        </p:txBody>
      </p:sp>
      <p:sp>
        <p:nvSpPr>
          <p:cNvPr id="11" name="Rounded Rectangle 10"/>
          <p:cNvSpPr/>
          <p:nvPr/>
        </p:nvSpPr>
        <p:spPr>
          <a:xfrm>
            <a:off x="4343400" y="1737360"/>
            <a:ext cx="3611880" cy="210312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874519"/>
            <a:ext cx="3246120" cy="457200"/>
          </a:xfrm>
          <a:prstGeom prst="rect">
            <a:avLst/>
          </a:prstGeom>
          <a:noFill/>
        </p:spPr>
        <p:txBody>
          <a:bodyPr wrap="square" anchor="t" lIns="45720" rIns="45720">
            <a:spAutoFit/>
          </a:bodyPr>
          <a:lstStyle/>
          <a:p>
            <a:pPr algn="l"/>
            <a:r>
              <a:rPr sz="2000" b="1">
                <a:solidFill>
                  <a:srgbClr val="12243A"/>
                </a:solidFill>
                <a:latin typeface="Cambria"/>
              </a:rPr>
              <a:t>“You said it after!”</a:t>
            </a:r>
          </a:p>
        </p:txBody>
      </p:sp>
      <p:sp>
        <p:nvSpPr>
          <p:cNvPr id="13" name="TextBox 12"/>
          <p:cNvSpPr txBox="1"/>
          <p:nvPr/>
        </p:nvSpPr>
        <p:spPr>
          <a:xfrm>
            <a:off x="4526280" y="2377439"/>
            <a:ext cx="3246120" cy="1371599"/>
          </a:xfrm>
          <a:prstGeom prst="rect">
            <a:avLst/>
          </a:prstGeom>
          <a:noFill/>
        </p:spPr>
        <p:txBody>
          <a:bodyPr wrap="square" anchor="t" lIns="45720" rIns="45720">
            <a:spAutoFit/>
          </a:bodyPr>
          <a:lstStyle/>
          <a:p>
            <a:pPr algn="l"/>
            <a:r>
              <a:rPr sz="1500" b="0">
                <a:solidFill>
                  <a:srgbClr val="26313C"/>
                </a:solidFill>
                <a:latin typeface="Calibri"/>
              </a:rPr>
              <a:t>Speech and action are hard to line up by memory.</a:t>
            </a:r>
          </a:p>
        </p:txBody>
      </p:sp>
      <p:sp>
        <p:nvSpPr>
          <p:cNvPr id="14" name="Rounded Rectangle 13"/>
          <p:cNvSpPr/>
          <p:nvPr/>
        </p:nvSpPr>
        <p:spPr>
          <a:xfrm>
            <a:off x="8138160" y="1737360"/>
            <a:ext cx="3611880" cy="210312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874519"/>
            <a:ext cx="3246120" cy="457200"/>
          </a:xfrm>
          <a:prstGeom prst="rect">
            <a:avLst/>
          </a:prstGeom>
          <a:noFill/>
        </p:spPr>
        <p:txBody>
          <a:bodyPr wrap="square" anchor="t" lIns="45720" rIns="45720">
            <a:spAutoFit/>
          </a:bodyPr>
          <a:lstStyle/>
          <a:p>
            <a:pPr algn="l"/>
            <a:r>
              <a:rPr sz="2000" b="1">
                <a:solidFill>
                  <a:srgbClr val="12243A"/>
                </a:solidFill>
                <a:latin typeface="Cambria"/>
              </a:rPr>
              <a:t>“Is the score right?”</a:t>
            </a:r>
          </a:p>
        </p:txBody>
      </p:sp>
      <p:sp>
        <p:nvSpPr>
          <p:cNvPr id="16" name="TextBox 15"/>
          <p:cNvSpPr txBox="1"/>
          <p:nvPr/>
        </p:nvSpPr>
        <p:spPr>
          <a:xfrm>
            <a:off x="8321040" y="2377439"/>
            <a:ext cx="3246120" cy="1371599"/>
          </a:xfrm>
          <a:prstGeom prst="rect">
            <a:avLst/>
          </a:prstGeom>
          <a:noFill/>
        </p:spPr>
        <p:txBody>
          <a:bodyPr wrap="square" anchor="t" lIns="45720" rIns="45720">
            <a:spAutoFit/>
          </a:bodyPr>
          <a:lstStyle/>
          <a:p>
            <a:pPr algn="l"/>
            <a:r>
              <a:rPr sz="1500" b="0">
                <a:solidFill>
                  <a:srgbClr val="26313C"/>
                </a:solidFill>
                <a:latin typeface="Calibri"/>
              </a:rPr>
              <a:t>Manual tallies drift; nobody can check them.</a:t>
            </a:r>
          </a:p>
        </p:txBody>
      </p:sp>
      <p:sp>
        <p:nvSpPr>
          <p:cNvPr id="17" name="TextBox 16"/>
          <p:cNvSpPr txBox="1"/>
          <p:nvPr/>
        </p:nvSpPr>
        <p:spPr>
          <a:xfrm>
            <a:off x="548640" y="4206240"/>
            <a:ext cx="10972800" cy="1828800"/>
          </a:xfrm>
          <a:prstGeom prst="rect">
            <a:avLst/>
          </a:prstGeom>
          <a:noFill/>
        </p:spPr>
        <p:txBody>
          <a:bodyPr wrap="square">
            <a:spAutoFit/>
          </a:bodyPr>
          <a:lstStyle/>
          <a:p>
            <a:pPr>
              <a:spcAft>
                <a:spcPts val="800"/>
              </a:spcAft>
            </a:pPr>
            <a:r>
              <a:rPr sz="1400">
                <a:solidFill>
                  <a:srgbClr val="C6A36B"/>
                </a:solidFill>
              </a:rPr>
              <a:t>◆  </a:t>
            </a:r>
            <a:r>
              <a:rPr sz="2000" b="0">
                <a:solidFill>
                  <a:srgbClr val="26313C"/>
                </a:solidFill>
                <a:latin typeface="Calibri"/>
              </a:rPr>
              <a:t>Black-box AI scoring fails the trust test</a:t>
            </a:r>
          </a:p>
          <a:p>
            <a:pPr>
              <a:spcAft>
                <a:spcPts val="800"/>
              </a:spcAft>
            </a:pPr>
            <a:r>
              <a:rPr sz="1400">
                <a:solidFill>
                  <a:srgbClr val="C6A36B"/>
                </a:solidFill>
              </a:rPr>
              <a:t>◆  </a:t>
            </a:r>
            <a:r>
              <a:rPr sz="2000" b="0">
                <a:solidFill>
                  <a:srgbClr val="26313C"/>
                </a:solidFill>
                <a:latin typeface="Calibri"/>
              </a:rPr>
              <a:t>An AI that guesses is worse than no AI</a:t>
            </a:r>
          </a:p>
          <a:p>
            <a:pPr>
              <a:spcAft>
                <a:spcPts val="800"/>
              </a:spcAft>
            </a:pPr>
            <a:r>
              <a:rPr sz="1400">
                <a:solidFill>
                  <a:srgbClr val="C6A36B"/>
                </a:solidFill>
              </a:rPr>
              <a:t>◆  </a:t>
            </a:r>
            <a:r>
              <a:rPr sz="2000" b="0">
                <a:solidFill>
                  <a:srgbClr val="26313C"/>
                </a:solidFill>
                <a:latin typeface="Calibri"/>
              </a:rPr>
              <a:t>Families need </a:t>
            </a:r>
            <a:r>
              <a:rPr sz="2000" b="1">
                <a:solidFill>
                  <a:srgbClr val="26313C"/>
                </a:solidFill>
                <a:latin typeface="Calibri"/>
              </a:rPr>
              <a:t>explanations</a:t>
            </a:r>
            <a:r>
              <a:rPr sz="2000" b="0">
                <a:solidFill>
                  <a:srgbClr val="26313C"/>
                </a:solidFill>
                <a:latin typeface="Calibri"/>
              </a:rPr>
              <a:t>, not just answers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CONTEXT</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Why family gaming matters</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4</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TextBox 7"/>
          <p:cNvSpPr txBox="1"/>
          <p:nvPr/>
        </p:nvSpPr>
        <p:spPr>
          <a:xfrm>
            <a:off x="548640" y="1737360"/>
            <a:ext cx="6583680" cy="4114800"/>
          </a:xfrm>
          <a:prstGeom prst="rect">
            <a:avLst/>
          </a:prstGeom>
          <a:noFill/>
        </p:spPr>
        <p:txBody>
          <a:bodyPr wrap="square">
            <a:spAutoFit/>
          </a:bodyPr>
          <a:lstStyle/>
          <a:p>
            <a:pPr>
              <a:spcAft>
                <a:spcPts val="800"/>
              </a:spcAft>
            </a:pPr>
            <a:r>
              <a:rPr sz="1500">
                <a:solidFill>
                  <a:srgbClr val="C6A36B"/>
                </a:solidFill>
              </a:rPr>
              <a:t>◆  </a:t>
            </a:r>
            <a:r>
              <a:rPr sz="2100" b="0">
                <a:solidFill>
                  <a:srgbClr val="26313C"/>
                </a:solidFill>
                <a:latin typeface="Calibri"/>
              </a:rPr>
              <a:t>Shared play builds </a:t>
            </a:r>
            <a:r>
              <a:rPr sz="2100" b="1">
                <a:solidFill>
                  <a:srgbClr val="26313C"/>
                </a:solidFill>
                <a:latin typeface="Calibri"/>
              </a:rPr>
              <a:t>connection across generations</a:t>
            </a:r>
          </a:p>
          <a:p>
            <a:pPr>
              <a:spcAft>
                <a:spcPts val="800"/>
              </a:spcAft>
            </a:pPr>
            <a:r>
              <a:rPr sz="1500">
                <a:solidFill>
                  <a:srgbClr val="C6A36B"/>
                </a:solidFill>
              </a:rPr>
              <a:t>◆  </a:t>
            </a:r>
            <a:r>
              <a:rPr sz="2100" b="0">
                <a:solidFill>
                  <a:srgbClr val="26313C"/>
                </a:solidFill>
                <a:latin typeface="Calibri"/>
              </a:rPr>
              <a:t>Physical games keep families </a:t>
            </a:r>
            <a:r>
              <a:rPr sz="2100" b="1">
                <a:solidFill>
                  <a:srgbClr val="26313C"/>
                </a:solidFill>
                <a:latin typeface="Calibri"/>
              </a:rPr>
              <a:t>moving and talking</a:t>
            </a:r>
          </a:p>
          <a:p>
            <a:pPr>
              <a:spcAft>
                <a:spcPts val="800"/>
              </a:spcAft>
            </a:pPr>
            <a:r>
              <a:rPr sz="1500">
                <a:solidFill>
                  <a:srgbClr val="C6A36B"/>
                </a:solidFill>
              </a:rPr>
              <a:t>◆  </a:t>
            </a:r>
            <a:r>
              <a:rPr sz="2100" b="0">
                <a:solidFill>
                  <a:srgbClr val="26313C"/>
                </a:solidFill>
                <a:latin typeface="Calibri"/>
              </a:rPr>
              <a:t>Heritage games pass on </a:t>
            </a:r>
            <a:r>
              <a:rPr sz="2100" b="1">
                <a:solidFill>
                  <a:srgbClr val="26313C"/>
                </a:solidFill>
                <a:latin typeface="Calibri"/>
              </a:rPr>
              <a:t>culture</a:t>
            </a:r>
            <a:r>
              <a:rPr sz="2100" b="0">
                <a:solidFill>
                  <a:srgbClr val="26313C"/>
                </a:solidFill>
                <a:latin typeface="Calibri"/>
              </a:rPr>
              <a:t> (falaj, souq)</a:t>
            </a:r>
          </a:p>
          <a:p>
            <a:pPr>
              <a:spcAft>
                <a:spcPts val="800"/>
              </a:spcAft>
            </a:pPr>
            <a:r>
              <a:rPr sz="1500">
                <a:solidFill>
                  <a:srgbClr val="C6A36B"/>
                </a:solidFill>
              </a:rPr>
              <a:t>◆  </a:t>
            </a:r>
            <a:r>
              <a:rPr sz="2100" b="0">
                <a:solidFill>
                  <a:srgbClr val="26313C"/>
                </a:solidFill>
                <a:latin typeface="Calibri"/>
              </a:rPr>
              <a:t>Fair, simple judging lets </a:t>
            </a:r>
            <a:r>
              <a:rPr sz="2100" b="1">
                <a:solidFill>
                  <a:srgbClr val="26313C"/>
                </a:solidFill>
                <a:latin typeface="Calibri"/>
              </a:rPr>
              <a:t>children and adults compete together</a:t>
            </a:r>
          </a:p>
          <a:p>
            <a:pPr>
              <a:spcAft>
                <a:spcPts val="800"/>
              </a:spcAft>
            </a:pPr>
            <a:r>
              <a:rPr sz="1500">
                <a:solidFill>
                  <a:srgbClr val="C6A36B"/>
                </a:solidFill>
              </a:rPr>
              <a:t>◆  </a:t>
            </a:r>
            <a:r>
              <a:rPr sz="2100" b="0">
                <a:solidFill>
                  <a:srgbClr val="26313C"/>
                </a:solidFill>
                <a:latin typeface="Calibri"/>
              </a:rPr>
              <a:t>Screens act as </a:t>
            </a:r>
            <a:r>
              <a:rPr sz="2100" b="1">
                <a:solidFill>
                  <a:srgbClr val="26313C"/>
                </a:solidFill>
                <a:latin typeface="Calibri"/>
              </a:rPr>
              <a:t>host and referee</a:t>
            </a:r>
            <a:r>
              <a:rPr sz="2100" b="0">
                <a:solidFill>
                  <a:srgbClr val="26313C"/>
                </a:solidFill>
                <a:latin typeface="Calibri"/>
              </a:rPr>
              <a:t>, not the entertainment</a:t>
            </a:r>
          </a:p>
        </p:txBody>
      </p:sp>
      <p:sp>
        <p:nvSpPr>
          <p:cNvPr id="9" name="Rounded Rectangle 8"/>
          <p:cNvSpPr/>
          <p:nvPr/>
        </p:nvSpPr>
        <p:spPr>
          <a:xfrm>
            <a:off x="7589520" y="1737360"/>
            <a:ext cx="4023360" cy="2926080"/>
          </a:xfrm>
          <a:prstGeom prst="roundRect">
            <a:avLst>
              <a:gd name="adj" fmla="val 6000"/>
            </a:avLst>
          </a:prstGeom>
          <a:solidFill>
            <a:srgbClr val="167E80"/>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874519"/>
            <a:ext cx="3657600" cy="457200"/>
          </a:xfrm>
          <a:prstGeom prst="rect">
            <a:avLst/>
          </a:prstGeom>
          <a:noFill/>
        </p:spPr>
        <p:txBody>
          <a:bodyPr wrap="square" anchor="t" lIns="45720" rIns="45720">
            <a:spAutoFit/>
          </a:bodyPr>
          <a:lstStyle/>
          <a:p>
            <a:pPr algn="l"/>
            <a:r>
              <a:rPr sz="2000" b="1">
                <a:solidFill>
                  <a:srgbClr val="FFFFFF"/>
                </a:solidFill>
                <a:latin typeface="Cambria"/>
              </a:rPr>
              <a:t>Our principle</a:t>
            </a:r>
          </a:p>
        </p:txBody>
      </p:sp>
      <p:sp>
        <p:nvSpPr>
          <p:cNvPr id="11" name="TextBox 10"/>
          <p:cNvSpPr txBox="1"/>
          <p:nvPr/>
        </p:nvSpPr>
        <p:spPr>
          <a:xfrm>
            <a:off x="7772400" y="2377439"/>
            <a:ext cx="3657600" cy="2194560"/>
          </a:xfrm>
          <a:prstGeom prst="rect">
            <a:avLst/>
          </a:prstGeom>
          <a:noFill/>
        </p:spPr>
        <p:txBody>
          <a:bodyPr wrap="square" anchor="t" lIns="45720" rIns="45720">
            <a:spAutoFit/>
          </a:bodyPr>
          <a:lstStyle/>
          <a:p>
            <a:pPr algn="l"/>
            <a:r>
              <a:rPr sz="1500" b="0">
                <a:solidFill>
                  <a:srgbClr val="FFFFFF"/>
                </a:solidFill>
                <a:latin typeface="Calibri"/>
              </a:rPr>
              <a:t>Technology should make the family game more fun and more fair, never take it 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FAMILY AI GAME DAY</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The official challenge</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5</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TextBox 7"/>
          <p:cNvSpPr txBox="1"/>
          <p:nvPr/>
        </p:nvSpPr>
        <p:spPr>
          <a:xfrm>
            <a:off x="548640" y="1737360"/>
            <a:ext cx="6766560" cy="4206240"/>
          </a:xfrm>
          <a:prstGeom prst="rect">
            <a:avLst/>
          </a:prstGeom>
          <a:noFill/>
        </p:spPr>
        <p:txBody>
          <a:bodyPr wrap="square">
            <a:spAutoFit/>
          </a:bodyPr>
          <a:lstStyle/>
          <a:p>
            <a:pPr>
              <a:spcAft>
                <a:spcPts val="800"/>
              </a:spcAft>
            </a:pPr>
            <a:r>
              <a:rPr sz="1300">
                <a:solidFill>
                  <a:srgbClr val="C6A36B"/>
                </a:solidFill>
              </a:rPr>
              <a:t>◆  </a:t>
            </a:r>
            <a:r>
              <a:rPr sz="1900" b="0">
                <a:solidFill>
                  <a:srgbClr val="26313C"/>
                </a:solidFill>
                <a:latin typeface="Calibri"/>
              </a:rPr>
              <a:t>Working website/app for family games inspired by </a:t>
            </a:r>
            <a:r>
              <a:rPr sz="1900" b="1">
                <a:solidFill>
                  <a:srgbClr val="26313C"/>
                </a:solidFill>
                <a:latin typeface="Calibri"/>
              </a:rPr>
              <a:t>culture, heritage or sports</a:t>
            </a:r>
          </a:p>
          <a:p>
            <a:pPr>
              <a:spcAft>
                <a:spcPts val="800"/>
              </a:spcAft>
            </a:pPr>
            <a:r>
              <a:rPr sz="1300">
                <a:solidFill>
                  <a:srgbClr val="C6A36B"/>
                </a:solidFill>
              </a:rPr>
              <a:t>◆  </a:t>
            </a:r>
            <a:r>
              <a:rPr sz="1900" b="0">
                <a:solidFill>
                  <a:srgbClr val="26313C"/>
                </a:solidFill>
                <a:latin typeface="Calibri"/>
              </a:rPr>
              <a:t>AI observes real play through </a:t>
            </a:r>
            <a:r>
              <a:rPr sz="1900" b="1">
                <a:solidFill>
                  <a:srgbClr val="26313C"/>
                </a:solidFill>
                <a:latin typeface="Calibri"/>
              </a:rPr>
              <a:t>video and audio</a:t>
            </a:r>
            <a:r>
              <a:rPr sz="1900" b="0">
                <a:solidFill>
                  <a:srgbClr val="26313C"/>
                </a:solidFill>
                <a:latin typeface="Calibri"/>
              </a:rPr>
              <a:t>, applies rules, keeps score</a:t>
            </a:r>
          </a:p>
          <a:p>
            <a:pPr>
              <a:spcAft>
                <a:spcPts val="800"/>
              </a:spcAft>
            </a:pPr>
            <a:r>
              <a:rPr sz="1300">
                <a:solidFill>
                  <a:srgbClr val="C6A36B"/>
                </a:solidFill>
              </a:rPr>
              <a:t>◆  </a:t>
            </a:r>
            <a:r>
              <a:rPr sz="1900" b="1">
                <a:solidFill>
                  <a:srgbClr val="26313C"/>
                </a:solidFill>
                <a:latin typeface="Calibri"/>
              </a:rPr>
              <a:t>Cycle 3:</a:t>
            </a:r>
            <a:r>
              <a:rPr sz="1900" b="0">
                <a:solidFill>
                  <a:srgbClr val="26313C"/>
                </a:solidFill>
                <a:latin typeface="Calibri"/>
              </a:rPr>
              <a:t> football + 2 original games (team and individual)</a:t>
            </a:r>
          </a:p>
          <a:p>
            <a:pPr>
              <a:spcAft>
                <a:spcPts val="800"/>
              </a:spcAft>
            </a:pPr>
            <a:r>
              <a:rPr sz="1300">
                <a:solidFill>
                  <a:srgbClr val="C6A36B"/>
                </a:solidFill>
              </a:rPr>
              <a:t>◆  </a:t>
            </a:r>
            <a:r>
              <a:rPr sz="1900" b="0">
                <a:solidFill>
                  <a:srgbClr val="26313C"/>
                </a:solidFill>
                <a:latin typeface="Calibri"/>
              </a:rPr>
              <a:t>Football: track players and ball, goals, </a:t>
            </a:r>
            <a:r>
              <a:rPr sz="1900" b="1">
                <a:solidFill>
                  <a:srgbClr val="26313C"/>
                </a:solidFill>
                <a:latin typeface="Calibri"/>
              </a:rPr>
              <a:t>possession, MVP</a:t>
            </a:r>
          </a:p>
          <a:p>
            <a:pPr>
              <a:spcAft>
                <a:spcPts val="800"/>
              </a:spcAft>
            </a:pPr>
            <a:r>
              <a:rPr sz="1300">
                <a:solidFill>
                  <a:srgbClr val="C6A36B"/>
                </a:solidFill>
              </a:rPr>
              <a:t>◆  </a:t>
            </a:r>
            <a:r>
              <a:rPr sz="1900" b="0">
                <a:solidFill>
                  <a:srgbClr val="26313C"/>
                </a:solidFill>
                <a:latin typeface="Calibri"/>
              </a:rPr>
              <a:t>Upload video </a:t>
            </a:r>
            <a:r>
              <a:rPr sz="1900" b="1">
                <a:solidFill>
                  <a:srgbClr val="26313C"/>
                </a:solidFill>
                <a:latin typeface="Calibri"/>
              </a:rPr>
              <a:t>or</a:t>
            </a:r>
            <a:r>
              <a:rPr sz="1900" b="0">
                <a:solidFill>
                  <a:srgbClr val="26313C"/>
                </a:solidFill>
                <a:latin typeface="Calibri"/>
              </a:rPr>
              <a:t> record by camera + microphone</a:t>
            </a:r>
          </a:p>
          <a:p>
            <a:pPr>
              <a:spcAft>
                <a:spcPts val="800"/>
              </a:spcAft>
            </a:pPr>
            <a:r>
              <a:rPr sz="1300">
                <a:solidFill>
                  <a:srgbClr val="C6A36B"/>
                </a:solidFill>
              </a:rPr>
              <a:t>◆  </a:t>
            </a:r>
            <a:r>
              <a:rPr sz="1900" b="0">
                <a:solidFill>
                  <a:srgbClr val="26313C"/>
                </a:solidFill>
                <a:latin typeface="Calibri"/>
              </a:rPr>
              <a:t>Human </a:t>
            </a:r>
            <a:r>
              <a:rPr sz="1900" b="1">
                <a:solidFill>
                  <a:srgbClr val="26313C"/>
                </a:solidFill>
                <a:latin typeface="Calibri"/>
              </a:rPr>
              <a:t>host</a:t>
            </a:r>
            <a:r>
              <a:rPr sz="1900" b="0">
                <a:solidFill>
                  <a:srgbClr val="26313C"/>
                </a:solidFill>
                <a:latin typeface="Calibri"/>
              </a:rPr>
              <a:t> sets up, runs rounds/turns/timers, shows reasons</a:t>
            </a:r>
          </a:p>
        </p:txBody>
      </p:sp>
      <p:sp>
        <p:nvSpPr>
          <p:cNvPr id="9" name="Rounded Rectangle 8"/>
          <p:cNvSpPr/>
          <p:nvPr/>
        </p:nvSpPr>
        <p:spPr>
          <a:xfrm>
            <a:off x="7680960" y="1737360"/>
            <a:ext cx="3931920" cy="274320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1874519"/>
            <a:ext cx="3566160" cy="457200"/>
          </a:xfrm>
          <a:prstGeom prst="rect">
            <a:avLst/>
          </a:prstGeom>
          <a:noFill/>
        </p:spPr>
        <p:txBody>
          <a:bodyPr wrap="square" anchor="t" lIns="45720" rIns="45720">
            <a:spAutoFit/>
          </a:bodyPr>
          <a:lstStyle/>
          <a:p>
            <a:pPr algn="l"/>
            <a:r>
              <a:rPr sz="2000" b="1">
                <a:solidFill>
                  <a:srgbClr val="F7F3EB"/>
                </a:solidFill>
                <a:latin typeface="Cambria"/>
              </a:rPr>
              <a:t>Excluded examples</a:t>
            </a:r>
          </a:p>
        </p:txBody>
      </p:sp>
      <p:sp>
        <p:nvSpPr>
          <p:cNvPr id="11" name="TextBox 10"/>
          <p:cNvSpPr txBox="1"/>
          <p:nvPr/>
        </p:nvSpPr>
        <p:spPr>
          <a:xfrm>
            <a:off x="7863840" y="2377439"/>
            <a:ext cx="3566160" cy="2011680"/>
          </a:xfrm>
          <a:prstGeom prst="rect">
            <a:avLst/>
          </a:prstGeom>
          <a:noFill/>
        </p:spPr>
        <p:txBody>
          <a:bodyPr wrap="square" anchor="t" lIns="45720" rIns="45720">
            <a:spAutoFit/>
          </a:bodyPr>
          <a:lstStyle/>
          <a:p>
            <a:pPr algn="l"/>
            <a:r>
              <a:rPr sz="1500" b="0">
                <a:solidFill>
                  <a:srgbClr val="F7F3EB"/>
                </a:solidFill>
                <a:latin typeface="Calibri"/>
              </a:rPr>
              <a:t>Heritage guessing · cup stacking · ring toss · copy-the-rhythm. Our games are original.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SOLUTION</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Our solution: WASL Arena</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6</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3611880" cy="1737360"/>
          </a:xfrm>
          <a:prstGeom prst="roundRect">
            <a:avLst>
              <a:gd name="adj" fmla="val 6000"/>
            </a:avLst>
          </a:prstGeom>
          <a:solidFill>
            <a:srgbClr val="167E80"/>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3246120" cy="457200"/>
          </a:xfrm>
          <a:prstGeom prst="rect">
            <a:avLst/>
          </a:prstGeom>
          <a:noFill/>
        </p:spPr>
        <p:txBody>
          <a:bodyPr wrap="square" anchor="t" lIns="45720" rIns="45720">
            <a:spAutoFit/>
          </a:bodyPr>
          <a:lstStyle/>
          <a:p>
            <a:pPr algn="l"/>
            <a:r>
              <a:rPr sz="2000" b="1">
                <a:solidFill>
                  <a:srgbClr val="FFFFFF"/>
                </a:solidFill>
                <a:latin typeface="Cambria"/>
              </a:rPr>
              <a:t>Football AI</a:t>
            </a:r>
          </a:p>
        </p:txBody>
      </p:sp>
      <p:sp>
        <p:nvSpPr>
          <p:cNvPr id="10" name="TextBox 9"/>
          <p:cNvSpPr txBox="1"/>
          <p:nvPr/>
        </p:nvSpPr>
        <p:spPr>
          <a:xfrm>
            <a:off x="731520" y="2377439"/>
            <a:ext cx="3246120" cy="1005839"/>
          </a:xfrm>
          <a:prstGeom prst="rect">
            <a:avLst/>
          </a:prstGeom>
          <a:noFill/>
        </p:spPr>
        <p:txBody>
          <a:bodyPr wrap="square" anchor="t" lIns="45720" rIns="45720">
            <a:spAutoFit/>
          </a:bodyPr>
          <a:lstStyle/>
          <a:p>
            <a:pPr algn="l"/>
            <a:r>
              <a:rPr sz="1500" b="0">
                <a:solidFill>
                  <a:srgbClr val="FFFFFF"/>
                </a:solidFill>
                <a:latin typeface="Calibri"/>
              </a:rPr>
              <a:t>Team · tracking, goals, possession, MVP</a:t>
            </a:r>
          </a:p>
        </p:txBody>
      </p:sp>
      <p:sp>
        <p:nvSpPr>
          <p:cNvPr id="11" name="Rounded Rectangle 10"/>
          <p:cNvSpPr/>
          <p:nvPr/>
        </p:nvSpPr>
        <p:spPr>
          <a:xfrm>
            <a:off x="4343400" y="1737360"/>
            <a:ext cx="3611880" cy="173736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874519"/>
            <a:ext cx="3246120" cy="457200"/>
          </a:xfrm>
          <a:prstGeom prst="rect">
            <a:avLst/>
          </a:prstGeom>
          <a:noFill/>
        </p:spPr>
        <p:txBody>
          <a:bodyPr wrap="square" anchor="t" lIns="45720" rIns="45720">
            <a:spAutoFit/>
          </a:bodyPr>
          <a:lstStyle/>
          <a:p>
            <a:pPr algn="l"/>
            <a:r>
              <a:rPr sz="2000" b="1">
                <a:solidFill>
                  <a:srgbClr val="FFFFFF"/>
                </a:solidFill>
                <a:latin typeface="Cambria"/>
              </a:rPr>
              <a:t>Falaj Flow</a:t>
            </a:r>
          </a:p>
        </p:txBody>
      </p:sp>
      <p:sp>
        <p:nvSpPr>
          <p:cNvPr id="13" name="TextBox 12"/>
          <p:cNvSpPr txBox="1"/>
          <p:nvPr/>
        </p:nvSpPr>
        <p:spPr>
          <a:xfrm>
            <a:off x="4526280" y="2377439"/>
            <a:ext cx="3246120" cy="1005839"/>
          </a:xfrm>
          <a:prstGeom prst="rect">
            <a:avLst/>
          </a:prstGeom>
          <a:noFill/>
        </p:spPr>
        <p:txBody>
          <a:bodyPr wrap="square" anchor="t" lIns="45720" rIns="45720">
            <a:spAutoFit/>
          </a:bodyPr>
          <a:lstStyle/>
          <a:p>
            <a:pPr algn="l"/>
            <a:r>
              <a:rPr sz="1500" b="0">
                <a:solidFill>
                  <a:srgbClr val="FFFFFF"/>
                </a:solidFill>
                <a:latin typeface="Calibri"/>
              </a:rPr>
              <a:t>Team · board vision + graph reasoning</a:t>
            </a:r>
          </a:p>
        </p:txBody>
      </p:sp>
      <p:sp>
        <p:nvSpPr>
          <p:cNvPr id="14" name="Rounded Rectangle 13"/>
          <p:cNvSpPr/>
          <p:nvPr/>
        </p:nvSpPr>
        <p:spPr>
          <a:xfrm>
            <a:off x="8138160" y="1737360"/>
            <a:ext cx="3611880" cy="1737360"/>
          </a:xfrm>
          <a:prstGeom prst="roundRect">
            <a:avLst>
              <a:gd name="adj" fmla="val 6000"/>
            </a:avLst>
          </a:prstGeom>
          <a:solidFill>
            <a:srgbClr val="B92D39"/>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874519"/>
            <a:ext cx="3246120" cy="457200"/>
          </a:xfrm>
          <a:prstGeom prst="rect">
            <a:avLst/>
          </a:prstGeom>
          <a:noFill/>
        </p:spPr>
        <p:txBody>
          <a:bodyPr wrap="square" anchor="t" lIns="45720" rIns="45720">
            <a:spAutoFit/>
          </a:bodyPr>
          <a:lstStyle/>
          <a:p>
            <a:pPr algn="l"/>
            <a:r>
              <a:rPr sz="2000" b="1">
                <a:solidFill>
                  <a:srgbClr val="FFFFFF"/>
                </a:solidFill>
                <a:latin typeface="Cambria"/>
              </a:rPr>
              <a:t>Souq Signal</a:t>
            </a:r>
          </a:p>
        </p:txBody>
      </p:sp>
      <p:sp>
        <p:nvSpPr>
          <p:cNvPr id="16" name="TextBox 15"/>
          <p:cNvSpPr txBox="1"/>
          <p:nvPr/>
        </p:nvSpPr>
        <p:spPr>
          <a:xfrm>
            <a:off x="8321040" y="2377439"/>
            <a:ext cx="3246120" cy="1005839"/>
          </a:xfrm>
          <a:prstGeom prst="rect">
            <a:avLst/>
          </a:prstGeom>
          <a:noFill/>
        </p:spPr>
        <p:txBody>
          <a:bodyPr wrap="square" anchor="t" lIns="45720" rIns="45720">
            <a:spAutoFit/>
          </a:bodyPr>
          <a:lstStyle/>
          <a:p>
            <a:pPr algn="l"/>
            <a:r>
              <a:rPr sz="1500" b="0">
                <a:solidFill>
                  <a:srgbClr val="FFFFFF"/>
                </a:solidFill>
                <a:latin typeface="Calibri"/>
              </a:rPr>
              <a:t>Individual · vision + speech + budget</a:t>
            </a:r>
          </a:p>
        </p:txBody>
      </p:sp>
      <p:sp>
        <p:nvSpPr>
          <p:cNvPr id="17" name="Rectangle 16"/>
          <p:cNvSpPr/>
          <p:nvPr/>
        </p:nvSpPr>
        <p:spPr>
          <a:xfrm>
            <a:off x="3236976" y="3602736"/>
            <a:ext cx="3401568" cy="21671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3-library.png"/>
          <p:cNvPicPr>
            <a:picLocks noChangeAspect="1"/>
          </p:cNvPicPr>
          <p:nvPr/>
        </p:nvPicPr>
        <p:blipFill>
          <a:blip r:embed="rId3"/>
          <a:stretch>
            <a:fillRect/>
          </a:stretch>
        </p:blipFill>
        <p:spPr>
          <a:xfrm>
            <a:off x="3291840" y="3657600"/>
            <a:ext cx="3291840" cy="2057400"/>
          </a:xfrm>
          <a:prstGeom prst="rect">
            <a:avLst/>
          </a:prstGeom>
        </p:spPr>
      </p:pic>
      <p:sp>
        <p:nvSpPr>
          <p:cNvPr id="19" name="TextBox 18"/>
          <p:cNvSpPr txBox="1"/>
          <p:nvPr/>
        </p:nvSpPr>
        <p:spPr>
          <a:xfrm>
            <a:off x="7040880" y="3749039"/>
            <a:ext cx="4754880" cy="2560320"/>
          </a:xfrm>
          <a:prstGeom prst="rect">
            <a:avLst/>
          </a:prstGeom>
          <a:noFill/>
        </p:spPr>
        <p:txBody>
          <a:bodyPr wrap="square">
            <a:spAutoFit/>
          </a:bodyPr>
          <a:lstStyle/>
          <a:p>
            <a:pPr>
              <a:spcAft>
                <a:spcPts val="800"/>
              </a:spcAft>
            </a:pPr>
            <a:r>
              <a:rPr sz="1200">
                <a:solidFill>
                  <a:srgbClr val="C6A36B"/>
                </a:solidFill>
              </a:rPr>
              <a:t>◆  </a:t>
            </a:r>
            <a:r>
              <a:rPr sz="1800" b="0">
                <a:solidFill>
                  <a:srgbClr val="26313C"/>
                </a:solidFill>
                <a:latin typeface="Calibri"/>
              </a:rPr>
              <a:t>8 screens, bilingual EN/AR</a:t>
            </a:r>
          </a:p>
          <a:p>
            <a:pPr>
              <a:spcAft>
                <a:spcPts val="800"/>
              </a:spcAft>
            </a:pPr>
            <a:r>
              <a:rPr sz="1200">
                <a:solidFill>
                  <a:srgbClr val="C6A36B"/>
                </a:solidFill>
              </a:rPr>
              <a:t>◆  </a:t>
            </a:r>
            <a:r>
              <a:rPr sz="1800" b="0">
                <a:solidFill>
                  <a:srgbClr val="26313C"/>
                </a:solidFill>
                <a:latin typeface="Calibri"/>
              </a:rPr>
              <a:t>Real video/audio judging</a:t>
            </a:r>
          </a:p>
          <a:p>
            <a:pPr>
              <a:spcAft>
                <a:spcPts val="800"/>
              </a:spcAft>
            </a:pPr>
            <a:r>
              <a:rPr sz="1200">
                <a:solidFill>
                  <a:srgbClr val="C6A36B"/>
                </a:solidFill>
              </a:rPr>
              <a:t>◆  </a:t>
            </a:r>
            <a:r>
              <a:rPr sz="1800" b="0">
                <a:solidFill>
                  <a:srgbClr val="26313C"/>
                </a:solidFill>
                <a:latin typeface="Calibri"/>
              </a:rPr>
              <a:t>Host review + audit trail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WHY IT WINS</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Value proposition</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7</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3611880" cy="237744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3246120" cy="457200"/>
          </a:xfrm>
          <a:prstGeom prst="rect">
            <a:avLst/>
          </a:prstGeom>
          <a:noFill/>
        </p:spPr>
        <p:txBody>
          <a:bodyPr wrap="square" anchor="t" lIns="45720" rIns="45720">
            <a:spAutoFit/>
          </a:bodyPr>
          <a:lstStyle/>
          <a:p>
            <a:pPr algn="l"/>
            <a:r>
              <a:rPr sz="2000" b="1">
                <a:solidFill>
                  <a:srgbClr val="12243A"/>
                </a:solidFill>
                <a:latin typeface="Cambria"/>
              </a:rPr>
              <a:t>Families</a:t>
            </a:r>
          </a:p>
        </p:txBody>
      </p:sp>
      <p:sp>
        <p:nvSpPr>
          <p:cNvPr id="10" name="TextBox 9"/>
          <p:cNvSpPr txBox="1"/>
          <p:nvPr/>
        </p:nvSpPr>
        <p:spPr>
          <a:xfrm>
            <a:off x="731520" y="2377439"/>
            <a:ext cx="3246120" cy="1645920"/>
          </a:xfrm>
          <a:prstGeom prst="rect">
            <a:avLst/>
          </a:prstGeom>
          <a:noFill/>
        </p:spPr>
        <p:txBody>
          <a:bodyPr wrap="square" anchor="t" lIns="45720" rIns="45720">
            <a:spAutoFit/>
          </a:bodyPr>
          <a:lstStyle/>
          <a:p>
            <a:pPr algn="l"/>
            <a:r>
              <a:rPr sz="1500" b="0">
                <a:solidFill>
                  <a:srgbClr val="26313C"/>
                </a:solidFill>
                <a:latin typeface="Calibri"/>
              </a:rPr>
              <a:t>Fair, fast scoring that everyone can replay and understand.</a:t>
            </a:r>
          </a:p>
        </p:txBody>
      </p:sp>
      <p:sp>
        <p:nvSpPr>
          <p:cNvPr id="11" name="Rounded Rectangle 10"/>
          <p:cNvSpPr/>
          <p:nvPr/>
        </p:nvSpPr>
        <p:spPr>
          <a:xfrm>
            <a:off x="4343400" y="1737360"/>
            <a:ext cx="3611880" cy="237744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874519"/>
            <a:ext cx="3246120" cy="457200"/>
          </a:xfrm>
          <a:prstGeom prst="rect">
            <a:avLst/>
          </a:prstGeom>
          <a:noFill/>
        </p:spPr>
        <p:txBody>
          <a:bodyPr wrap="square" anchor="t" lIns="45720" rIns="45720">
            <a:spAutoFit/>
          </a:bodyPr>
          <a:lstStyle/>
          <a:p>
            <a:pPr algn="l"/>
            <a:r>
              <a:rPr sz="2000" b="1">
                <a:solidFill>
                  <a:srgbClr val="12243A"/>
                </a:solidFill>
                <a:latin typeface="Cambria"/>
              </a:rPr>
              <a:t>Hosts</a:t>
            </a:r>
          </a:p>
        </p:txBody>
      </p:sp>
      <p:sp>
        <p:nvSpPr>
          <p:cNvPr id="13" name="TextBox 12"/>
          <p:cNvSpPr txBox="1"/>
          <p:nvPr/>
        </p:nvSpPr>
        <p:spPr>
          <a:xfrm>
            <a:off x="4526280" y="2377439"/>
            <a:ext cx="3246120" cy="1645920"/>
          </a:xfrm>
          <a:prstGeom prst="rect">
            <a:avLst/>
          </a:prstGeom>
          <a:noFill/>
        </p:spPr>
        <p:txBody>
          <a:bodyPr wrap="square" anchor="t" lIns="45720" rIns="45720">
            <a:spAutoFit/>
          </a:bodyPr>
          <a:lstStyle/>
          <a:p>
            <a:pPr algn="l"/>
            <a:r>
              <a:rPr sz="1500" b="0">
                <a:solidFill>
                  <a:srgbClr val="26313C"/>
                </a:solidFill>
                <a:latin typeface="Calibri"/>
              </a:rPr>
              <a:t>Setup, rounds, timers, review and results in one console.</a:t>
            </a:r>
          </a:p>
        </p:txBody>
      </p:sp>
      <p:sp>
        <p:nvSpPr>
          <p:cNvPr id="14" name="Rounded Rectangle 13"/>
          <p:cNvSpPr/>
          <p:nvPr/>
        </p:nvSpPr>
        <p:spPr>
          <a:xfrm>
            <a:off x="8138160" y="1737360"/>
            <a:ext cx="3611880" cy="237744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874519"/>
            <a:ext cx="3246120" cy="457200"/>
          </a:xfrm>
          <a:prstGeom prst="rect">
            <a:avLst/>
          </a:prstGeom>
          <a:noFill/>
        </p:spPr>
        <p:txBody>
          <a:bodyPr wrap="square" anchor="t" lIns="45720" rIns="45720">
            <a:spAutoFit/>
          </a:bodyPr>
          <a:lstStyle/>
          <a:p>
            <a:pPr algn="l"/>
            <a:r>
              <a:rPr sz="2000" b="1">
                <a:solidFill>
                  <a:srgbClr val="12243A"/>
                </a:solidFill>
                <a:latin typeface="Cambria"/>
              </a:rPr>
              <a:t>Judges</a:t>
            </a:r>
          </a:p>
        </p:txBody>
      </p:sp>
      <p:sp>
        <p:nvSpPr>
          <p:cNvPr id="16" name="TextBox 15"/>
          <p:cNvSpPr txBox="1"/>
          <p:nvPr/>
        </p:nvSpPr>
        <p:spPr>
          <a:xfrm>
            <a:off x="8321040" y="2377439"/>
            <a:ext cx="3246120" cy="1645920"/>
          </a:xfrm>
          <a:prstGeom prst="rect">
            <a:avLst/>
          </a:prstGeom>
          <a:noFill/>
        </p:spPr>
        <p:txBody>
          <a:bodyPr wrap="square" anchor="t" lIns="45720" rIns="45720">
            <a:spAutoFit/>
          </a:bodyPr>
          <a:lstStyle/>
          <a:p>
            <a:pPr algn="l"/>
            <a:r>
              <a:rPr sz="1500" b="0">
                <a:solidFill>
                  <a:srgbClr val="26313C"/>
                </a:solidFill>
                <a:latin typeface="Calibri"/>
              </a:rPr>
              <a:t>Real pipelines, tests and honest limits you can inspect.</a:t>
            </a:r>
          </a:p>
        </p:txBody>
      </p:sp>
      <p:sp>
        <p:nvSpPr>
          <p:cNvPr id="17" name="TextBox 16"/>
          <p:cNvSpPr txBox="1"/>
          <p:nvPr/>
        </p:nvSpPr>
        <p:spPr>
          <a:xfrm>
            <a:off x="548640" y="4480560"/>
            <a:ext cx="10972800" cy="1828800"/>
          </a:xfrm>
          <a:prstGeom prst="rect">
            <a:avLst/>
          </a:prstGeom>
          <a:noFill/>
        </p:spPr>
        <p:txBody>
          <a:bodyPr wrap="square">
            <a:spAutoFit/>
          </a:bodyPr>
          <a:lstStyle/>
          <a:p>
            <a:pPr>
              <a:spcAft>
                <a:spcPts val="800"/>
              </a:spcAft>
            </a:pPr>
            <a:r>
              <a:rPr sz="1400">
                <a:solidFill>
                  <a:srgbClr val="C6A36B"/>
                </a:solidFill>
              </a:rPr>
              <a:t>◆  </a:t>
            </a:r>
            <a:r>
              <a:rPr sz="2000" b="0">
                <a:solidFill>
                  <a:srgbClr val="26313C"/>
                </a:solidFill>
                <a:latin typeface="Calibri"/>
              </a:rPr>
              <a:t>Explainable: rule, frames, timestamps, score change</a:t>
            </a:r>
          </a:p>
          <a:p>
            <a:pPr>
              <a:spcAft>
                <a:spcPts val="800"/>
              </a:spcAft>
            </a:pPr>
            <a:r>
              <a:rPr sz="1400">
                <a:solidFill>
                  <a:srgbClr val="C6A36B"/>
                </a:solidFill>
              </a:rPr>
              <a:t>◆  </a:t>
            </a:r>
            <a:r>
              <a:rPr sz="2000" b="0">
                <a:solidFill>
                  <a:srgbClr val="26313C"/>
                </a:solidFill>
                <a:latin typeface="Calibri"/>
              </a:rPr>
              <a:t>Honest: NEEDS_REVIEW instead of guessing</a:t>
            </a:r>
          </a:p>
          <a:p>
            <a:pPr>
              <a:spcAft>
                <a:spcPts val="800"/>
              </a:spcAft>
            </a:pPr>
            <a:r>
              <a:rPr sz="1400">
                <a:solidFill>
                  <a:srgbClr val="C6A36B"/>
                </a:solidFill>
              </a:rPr>
              <a:t>◆  </a:t>
            </a:r>
            <a:r>
              <a:rPr sz="2000" b="0">
                <a:solidFill>
                  <a:srgbClr val="26313C"/>
                </a:solidFill>
                <a:latin typeface="Calibri"/>
              </a:rPr>
              <a:t>Tamper-evident: hashes + signatures + audit chain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INNOVATION</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Signature innovation: AI Referee Replay</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8</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ectangle 7"/>
          <p:cNvSpPr/>
          <p:nvPr/>
        </p:nvSpPr>
        <p:spPr>
          <a:xfrm>
            <a:off x="493776" y="1591056"/>
            <a:ext cx="6876288" cy="43388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6-replay-football.png"/>
          <p:cNvPicPr>
            <a:picLocks noChangeAspect="1"/>
          </p:cNvPicPr>
          <p:nvPr/>
        </p:nvPicPr>
        <p:blipFill>
          <a:blip r:embed="rId3"/>
          <a:stretch>
            <a:fillRect/>
          </a:stretch>
        </p:blipFill>
        <p:spPr>
          <a:xfrm>
            <a:off x="548640" y="1645920"/>
            <a:ext cx="6766560" cy="4229100"/>
          </a:xfrm>
          <a:prstGeom prst="rect">
            <a:avLst/>
          </a:prstGeom>
        </p:spPr>
      </p:pic>
      <p:sp>
        <p:nvSpPr>
          <p:cNvPr id="10" name="TextBox 9"/>
          <p:cNvSpPr txBox="1"/>
          <p:nvPr/>
        </p:nvSpPr>
        <p:spPr>
          <a:xfrm>
            <a:off x="7680960" y="1737360"/>
            <a:ext cx="4114800" cy="4389120"/>
          </a:xfrm>
          <a:prstGeom prst="rect">
            <a:avLst/>
          </a:prstGeom>
          <a:noFill/>
        </p:spPr>
        <p:txBody>
          <a:bodyPr wrap="square">
            <a:spAutoFit/>
          </a:bodyPr>
          <a:lstStyle/>
          <a:p>
            <a:pPr>
              <a:spcAft>
                <a:spcPts val="800"/>
              </a:spcAft>
            </a:pPr>
            <a:r>
              <a:rPr sz="1300">
                <a:solidFill>
                  <a:srgbClr val="C6A36B"/>
                </a:solidFill>
              </a:rPr>
              <a:t>◆  </a:t>
            </a:r>
            <a:r>
              <a:rPr sz="1900" b="1">
                <a:solidFill>
                  <a:srgbClr val="26313C"/>
                </a:solidFill>
                <a:latin typeface="Calibri"/>
              </a:rPr>
              <a:t>Source video</a:t>
            </a:r>
            <a:r>
              <a:rPr sz="1900" b="0">
                <a:solidFill>
                  <a:srgbClr val="26313C"/>
                </a:solidFill>
                <a:latin typeface="Calibri"/>
              </a:rPr>
              <a:t> with live annotations</a:t>
            </a:r>
          </a:p>
          <a:p>
            <a:pPr>
              <a:spcAft>
                <a:spcPts val="800"/>
              </a:spcAft>
            </a:pPr>
            <a:r>
              <a:rPr sz="1300">
                <a:solidFill>
                  <a:srgbClr val="C6A36B"/>
                </a:solidFill>
              </a:rPr>
              <a:t>◆  </a:t>
            </a:r>
            <a:r>
              <a:rPr sz="1900" b="1">
                <a:solidFill>
                  <a:srgbClr val="26313C"/>
                </a:solidFill>
                <a:latin typeface="Calibri"/>
              </a:rPr>
              <a:t>Timestamps</a:t>
            </a:r>
            <a:r>
              <a:rPr sz="1900" b="0">
                <a:solidFill>
                  <a:srgbClr val="26313C"/>
                </a:solidFill>
                <a:latin typeface="Calibri"/>
              </a:rPr>
              <a:t> and evidence frames</a:t>
            </a:r>
          </a:p>
          <a:p>
            <a:pPr>
              <a:spcAft>
                <a:spcPts val="800"/>
              </a:spcAft>
            </a:pPr>
            <a:r>
              <a:rPr sz="1300">
                <a:solidFill>
                  <a:srgbClr val="C6A36B"/>
                </a:solidFill>
              </a:rPr>
              <a:t>◆  </a:t>
            </a:r>
            <a:r>
              <a:rPr sz="1900" b="1">
                <a:solidFill>
                  <a:srgbClr val="26313C"/>
                </a:solidFill>
                <a:latin typeface="Calibri"/>
              </a:rPr>
              <a:t>Rule applied</a:t>
            </a:r>
            <a:r>
              <a:rPr sz="1900" b="0">
                <a:solidFill>
                  <a:srgbClr val="26313C"/>
                </a:solidFill>
                <a:latin typeface="Calibri"/>
              </a:rPr>
              <a:t> and score change</a:t>
            </a:r>
          </a:p>
          <a:p>
            <a:pPr>
              <a:spcAft>
                <a:spcPts val="800"/>
              </a:spcAft>
            </a:pPr>
            <a:r>
              <a:rPr sz="1300">
                <a:solidFill>
                  <a:srgbClr val="C6A36B"/>
                </a:solidFill>
              </a:rPr>
              <a:t>◆  </a:t>
            </a:r>
            <a:r>
              <a:rPr sz="1900" b="1">
                <a:solidFill>
                  <a:srgbClr val="26313C"/>
                </a:solidFill>
                <a:latin typeface="Calibri"/>
              </a:rPr>
              <a:t>Verification status</a:t>
            </a:r>
            <a:r>
              <a:rPr sz="1900" b="0">
                <a:solidFill>
                  <a:srgbClr val="26313C"/>
                </a:solidFill>
                <a:latin typeface="Calibri"/>
              </a:rPr>
              <a:t> + uncertainty</a:t>
            </a:r>
          </a:p>
          <a:p>
            <a:pPr>
              <a:spcAft>
                <a:spcPts val="800"/>
              </a:spcAft>
            </a:pPr>
            <a:r>
              <a:rPr sz="1300">
                <a:solidFill>
                  <a:srgbClr val="C6A36B"/>
                </a:solidFill>
              </a:rPr>
              <a:t>◆  </a:t>
            </a:r>
            <a:r>
              <a:rPr sz="1900" b="1">
                <a:solidFill>
                  <a:srgbClr val="26313C"/>
                </a:solidFill>
                <a:latin typeface="Calibri"/>
              </a:rPr>
              <a:t>Human review</a:t>
            </a:r>
            <a:r>
              <a:rPr sz="1900" b="0">
                <a:solidFill>
                  <a:srgbClr val="26313C"/>
                </a:solidFill>
                <a:latin typeface="Calibri"/>
              </a:rPr>
              <a:t> accept / reject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HOST FLOW</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User journey</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9</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828800"/>
            <a:ext cx="1737360" cy="1188720"/>
          </a:xfrm>
          <a:prstGeom prst="round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011680"/>
            <a:ext cx="1737360" cy="822960"/>
          </a:xfrm>
          <a:prstGeom prst="rect">
            <a:avLst/>
          </a:prstGeom>
          <a:noFill/>
        </p:spPr>
        <p:txBody>
          <a:bodyPr wrap="square" anchor="t" lIns="45720" rIns="45720">
            <a:spAutoFit/>
          </a:bodyPr>
          <a:lstStyle/>
          <a:p>
            <a:pPr algn="ctr"/>
            <a:r>
              <a:rPr sz="1700" b="1">
                <a:solidFill>
                  <a:srgbClr val="FFFFFF"/>
                </a:solidFill>
                <a:latin typeface="Calibri"/>
              </a:rPr>
              <a:t>1</a:t>
            </a:r>
          </a:p>
          <a:p>
            <a:pPr algn="ctr"/>
            <a:r>
              <a:rPr sz="1700" b="1">
                <a:solidFill>
                  <a:srgbClr val="FFFFFF"/>
                </a:solidFill>
                <a:latin typeface="Calibri"/>
              </a:rPr>
              <a:t>Choose game</a:t>
            </a:r>
          </a:p>
        </p:txBody>
      </p:sp>
      <p:sp>
        <p:nvSpPr>
          <p:cNvPr id="10" name="Rounded Rectangle 9"/>
          <p:cNvSpPr/>
          <p:nvPr/>
        </p:nvSpPr>
        <p:spPr>
          <a:xfrm>
            <a:off x="2468880" y="1828800"/>
            <a:ext cx="1737360" cy="1188720"/>
          </a:xfrm>
          <a:prstGeom prst="round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2011680"/>
            <a:ext cx="1737360" cy="822960"/>
          </a:xfrm>
          <a:prstGeom prst="rect">
            <a:avLst/>
          </a:prstGeom>
          <a:noFill/>
        </p:spPr>
        <p:txBody>
          <a:bodyPr wrap="square" anchor="t" lIns="45720" rIns="45720">
            <a:spAutoFit/>
          </a:bodyPr>
          <a:lstStyle/>
          <a:p>
            <a:pPr algn="ctr"/>
            <a:r>
              <a:rPr sz="1700" b="1">
                <a:solidFill>
                  <a:srgbClr val="FFFFFF"/>
                </a:solidFill>
                <a:latin typeface="Calibri"/>
              </a:rPr>
              <a:t>2</a:t>
            </a:r>
          </a:p>
          <a:p>
            <a:pPr algn="ctr"/>
            <a:r>
              <a:rPr sz="1700" b="1">
                <a:solidFill>
                  <a:srgbClr val="FFFFFF"/>
                </a:solidFill>
                <a:latin typeface="Calibri"/>
              </a:rPr>
              <a:t>Players &amp; teams</a:t>
            </a:r>
          </a:p>
        </p:txBody>
      </p:sp>
      <p:sp>
        <p:nvSpPr>
          <p:cNvPr id="12" name="Rounded Rectangle 11"/>
          <p:cNvSpPr/>
          <p:nvPr/>
        </p:nvSpPr>
        <p:spPr>
          <a:xfrm>
            <a:off x="4389120" y="1828800"/>
            <a:ext cx="1737360" cy="1188720"/>
          </a:xfrm>
          <a:prstGeom prst="round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2011680"/>
            <a:ext cx="1737360" cy="822960"/>
          </a:xfrm>
          <a:prstGeom prst="rect">
            <a:avLst/>
          </a:prstGeom>
          <a:noFill/>
        </p:spPr>
        <p:txBody>
          <a:bodyPr wrap="square" anchor="t" lIns="45720" rIns="45720">
            <a:spAutoFit/>
          </a:bodyPr>
          <a:lstStyle/>
          <a:p>
            <a:pPr algn="ctr"/>
            <a:r>
              <a:rPr sz="1700" b="1">
                <a:solidFill>
                  <a:srgbClr val="FFFFFF"/>
                </a:solidFill>
                <a:latin typeface="Calibri"/>
              </a:rPr>
              <a:t>3</a:t>
            </a:r>
          </a:p>
          <a:p>
            <a:pPr algn="ctr"/>
            <a:r>
              <a:rPr sz="1700" b="1">
                <a:solidFill>
                  <a:srgbClr val="FFFFFF"/>
                </a:solidFill>
                <a:latin typeface="Calibri"/>
              </a:rPr>
              <a:t>Rules &amp; ready</a:t>
            </a:r>
          </a:p>
        </p:txBody>
      </p:sp>
      <p:sp>
        <p:nvSpPr>
          <p:cNvPr id="14" name="Rounded Rectangle 13"/>
          <p:cNvSpPr/>
          <p:nvPr/>
        </p:nvSpPr>
        <p:spPr>
          <a:xfrm>
            <a:off x="6309360" y="1828800"/>
            <a:ext cx="1737360" cy="1188720"/>
          </a:xfrm>
          <a:prstGeom prst="round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011680"/>
            <a:ext cx="1737360" cy="822960"/>
          </a:xfrm>
          <a:prstGeom prst="rect">
            <a:avLst/>
          </a:prstGeom>
          <a:noFill/>
        </p:spPr>
        <p:txBody>
          <a:bodyPr wrap="square" anchor="t" lIns="45720" rIns="45720">
            <a:spAutoFit/>
          </a:bodyPr>
          <a:lstStyle/>
          <a:p>
            <a:pPr algn="ctr"/>
            <a:r>
              <a:rPr sz="1700" b="1">
                <a:solidFill>
                  <a:srgbClr val="FFFFFF"/>
                </a:solidFill>
                <a:latin typeface="Calibri"/>
              </a:rPr>
              <a:t>4</a:t>
            </a:r>
          </a:p>
          <a:p>
            <a:pPr algn="ctr"/>
            <a:r>
              <a:rPr sz="1700" b="1">
                <a:solidFill>
                  <a:srgbClr val="FFFFFF"/>
                </a:solidFill>
                <a:latin typeface="Calibri"/>
              </a:rPr>
              <a:t>Round in play</a:t>
            </a:r>
          </a:p>
        </p:txBody>
      </p:sp>
      <p:sp>
        <p:nvSpPr>
          <p:cNvPr id="16" name="Rounded Rectangle 15"/>
          <p:cNvSpPr/>
          <p:nvPr/>
        </p:nvSpPr>
        <p:spPr>
          <a:xfrm>
            <a:off x="8229600" y="1828800"/>
            <a:ext cx="1737360" cy="1188720"/>
          </a:xfrm>
          <a:prstGeom prst="roundRect">
            <a:avLst/>
          </a:prstGeom>
          <a:solidFill>
            <a:srgbClr val="C6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2011680"/>
            <a:ext cx="1737360" cy="822960"/>
          </a:xfrm>
          <a:prstGeom prst="rect">
            <a:avLst/>
          </a:prstGeom>
          <a:noFill/>
        </p:spPr>
        <p:txBody>
          <a:bodyPr wrap="square" anchor="t" lIns="45720" rIns="45720">
            <a:spAutoFit/>
          </a:bodyPr>
          <a:lstStyle/>
          <a:p>
            <a:pPr algn="ctr"/>
            <a:r>
              <a:rPr sz="1700" b="1">
                <a:solidFill>
                  <a:srgbClr val="12243A"/>
                </a:solidFill>
                <a:latin typeface="Calibri"/>
              </a:rPr>
              <a:t>5</a:t>
            </a:r>
          </a:p>
          <a:p>
            <a:pPr algn="ctr"/>
            <a:r>
              <a:rPr sz="1700" b="1">
                <a:solidFill>
                  <a:srgbClr val="12243A"/>
                </a:solidFill>
                <a:latin typeface="Calibri"/>
              </a:rPr>
              <a:t>AI judges</a:t>
            </a:r>
          </a:p>
        </p:txBody>
      </p:sp>
      <p:sp>
        <p:nvSpPr>
          <p:cNvPr id="18" name="Rounded Rectangle 17"/>
          <p:cNvSpPr/>
          <p:nvPr/>
        </p:nvSpPr>
        <p:spPr>
          <a:xfrm>
            <a:off x="10149840" y="1828800"/>
            <a:ext cx="1737360" cy="1188720"/>
          </a:xfrm>
          <a:prstGeom prst="roundRect">
            <a:avLst/>
          </a:prstGeom>
          <a:solidFill>
            <a:srgbClr val="B92D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40" y="2011680"/>
            <a:ext cx="1737360" cy="822960"/>
          </a:xfrm>
          <a:prstGeom prst="rect">
            <a:avLst/>
          </a:prstGeom>
          <a:noFill/>
        </p:spPr>
        <p:txBody>
          <a:bodyPr wrap="square" anchor="t" lIns="45720" rIns="45720">
            <a:spAutoFit/>
          </a:bodyPr>
          <a:lstStyle/>
          <a:p>
            <a:pPr algn="ctr"/>
            <a:r>
              <a:rPr sz="1700" b="1">
                <a:solidFill>
                  <a:srgbClr val="FFFFFF"/>
                </a:solidFill>
                <a:latin typeface="Calibri"/>
              </a:rPr>
              <a:t>6</a:t>
            </a:r>
          </a:p>
          <a:p>
            <a:pPr algn="ctr"/>
            <a:r>
              <a:rPr sz="1700" b="1">
                <a:solidFill>
                  <a:srgbClr val="FFFFFF"/>
                </a:solidFill>
                <a:latin typeface="Calibri"/>
              </a:rPr>
              <a:t>Final results</a:t>
            </a:r>
          </a:p>
        </p:txBody>
      </p:sp>
      <p:sp>
        <p:nvSpPr>
          <p:cNvPr id="20" name="Rectangle 19"/>
          <p:cNvSpPr/>
          <p:nvPr/>
        </p:nvSpPr>
        <p:spPr>
          <a:xfrm>
            <a:off x="768096" y="3328416"/>
            <a:ext cx="3218688" cy="20528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02-setup.png"/>
          <p:cNvPicPr>
            <a:picLocks noChangeAspect="1"/>
          </p:cNvPicPr>
          <p:nvPr/>
        </p:nvPicPr>
        <p:blipFill>
          <a:blip r:embed="rId3"/>
          <a:stretch>
            <a:fillRect/>
          </a:stretch>
        </p:blipFill>
        <p:spPr>
          <a:xfrm>
            <a:off x="822960" y="3383280"/>
            <a:ext cx="3108960" cy="1943100"/>
          </a:xfrm>
          <a:prstGeom prst="rect">
            <a:avLst/>
          </a:prstGeom>
        </p:spPr>
      </p:pic>
      <p:sp>
        <p:nvSpPr>
          <p:cNvPr id="22" name="TextBox 21"/>
          <p:cNvSpPr txBox="1"/>
          <p:nvPr/>
        </p:nvSpPr>
        <p:spPr>
          <a:xfrm>
            <a:off x="822960" y="5417820"/>
            <a:ext cx="3108960" cy="274320"/>
          </a:xfrm>
          <a:prstGeom prst="rect">
            <a:avLst/>
          </a:prstGeom>
          <a:noFill/>
        </p:spPr>
        <p:txBody>
          <a:bodyPr wrap="square" anchor="t" lIns="45720" rIns="45720">
            <a:spAutoFit/>
          </a:bodyPr>
          <a:lstStyle/>
          <a:p>
            <a:pPr algn="l"/>
            <a:r>
              <a:rPr sz="1100" b="0">
                <a:solidFill>
                  <a:srgbClr val="26313C"/>
                </a:solidFill>
                <a:latin typeface="Calibri"/>
              </a:rPr>
              <a:t>Family setup</a:t>
            </a:r>
          </a:p>
        </p:txBody>
      </p:sp>
      <p:sp>
        <p:nvSpPr>
          <p:cNvPr id="23" name="Rectangle 22"/>
          <p:cNvSpPr/>
          <p:nvPr/>
        </p:nvSpPr>
        <p:spPr>
          <a:xfrm>
            <a:off x="4151376" y="3328416"/>
            <a:ext cx="3218688" cy="20528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4-prepare.png"/>
          <p:cNvPicPr>
            <a:picLocks noChangeAspect="1"/>
          </p:cNvPicPr>
          <p:nvPr/>
        </p:nvPicPr>
        <p:blipFill>
          <a:blip r:embed="rId4"/>
          <a:stretch>
            <a:fillRect/>
          </a:stretch>
        </p:blipFill>
        <p:spPr>
          <a:xfrm>
            <a:off x="4206240" y="3383280"/>
            <a:ext cx="3108960" cy="1943100"/>
          </a:xfrm>
          <a:prstGeom prst="rect">
            <a:avLst/>
          </a:prstGeom>
        </p:spPr>
      </p:pic>
      <p:sp>
        <p:nvSpPr>
          <p:cNvPr id="25" name="TextBox 24"/>
          <p:cNvSpPr txBox="1"/>
          <p:nvPr/>
        </p:nvSpPr>
        <p:spPr>
          <a:xfrm>
            <a:off x="4206240" y="5417820"/>
            <a:ext cx="3108960" cy="274320"/>
          </a:xfrm>
          <a:prstGeom prst="rect">
            <a:avLst/>
          </a:prstGeom>
          <a:noFill/>
        </p:spPr>
        <p:txBody>
          <a:bodyPr wrap="square" anchor="t" lIns="45720" rIns="45720">
            <a:spAutoFit/>
          </a:bodyPr>
          <a:lstStyle/>
          <a:p>
            <a:pPr algn="l"/>
            <a:r>
              <a:rPr sz="1100" b="0">
                <a:solidFill>
                  <a:srgbClr val="26313C"/>
                </a:solidFill>
                <a:latin typeface="Calibri"/>
              </a:rPr>
              <a:t>Preparation</a:t>
            </a:r>
          </a:p>
        </p:txBody>
      </p:sp>
      <p:sp>
        <p:nvSpPr>
          <p:cNvPr id="26" name="Rectangle 25"/>
          <p:cNvSpPr/>
          <p:nvPr/>
        </p:nvSpPr>
        <p:spPr>
          <a:xfrm>
            <a:off x="7534656" y="3328416"/>
            <a:ext cx="3218688" cy="20528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05-arena.png"/>
          <p:cNvPicPr>
            <a:picLocks noChangeAspect="1"/>
          </p:cNvPicPr>
          <p:nvPr/>
        </p:nvPicPr>
        <p:blipFill>
          <a:blip r:embed="rId5"/>
          <a:stretch>
            <a:fillRect/>
          </a:stretch>
        </p:blipFill>
        <p:spPr>
          <a:xfrm>
            <a:off x="7589520" y="3383280"/>
            <a:ext cx="3108960" cy="1943100"/>
          </a:xfrm>
          <a:prstGeom prst="rect">
            <a:avLst/>
          </a:prstGeom>
        </p:spPr>
      </p:pic>
      <p:sp>
        <p:nvSpPr>
          <p:cNvPr id="28" name="TextBox 27"/>
          <p:cNvSpPr txBox="1"/>
          <p:nvPr/>
        </p:nvSpPr>
        <p:spPr>
          <a:xfrm>
            <a:off x="7589520" y="5417820"/>
            <a:ext cx="3108960" cy="274320"/>
          </a:xfrm>
          <a:prstGeom prst="rect">
            <a:avLst/>
          </a:prstGeom>
          <a:noFill/>
        </p:spPr>
        <p:txBody>
          <a:bodyPr wrap="square" anchor="t" lIns="45720" rIns="45720">
            <a:spAutoFit/>
          </a:bodyPr>
          <a:lstStyle/>
          <a:p>
            <a:pPr algn="l"/>
            <a:r>
              <a:rPr sz="1100" b="0">
                <a:solidFill>
                  <a:srgbClr val="26313C"/>
                </a:solidFill>
                <a:latin typeface="Calibri"/>
              </a:rPr>
              <a:t>Live arena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GAMES</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The three-game collection</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10</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645920"/>
            <a:ext cx="3611880" cy="1828800"/>
          </a:xfrm>
          <a:prstGeom prst="roundRect">
            <a:avLst>
              <a:gd name="adj" fmla="val 6000"/>
            </a:avLst>
          </a:prstGeom>
          <a:solidFill>
            <a:srgbClr val="167E80"/>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83080"/>
            <a:ext cx="3246120" cy="457200"/>
          </a:xfrm>
          <a:prstGeom prst="rect">
            <a:avLst/>
          </a:prstGeom>
          <a:noFill/>
        </p:spPr>
        <p:txBody>
          <a:bodyPr wrap="square" anchor="t" lIns="45720" rIns="45720">
            <a:spAutoFit/>
          </a:bodyPr>
          <a:lstStyle/>
          <a:p>
            <a:pPr algn="l"/>
            <a:r>
              <a:rPr sz="2000" b="1">
                <a:solidFill>
                  <a:srgbClr val="FFFFFF"/>
                </a:solidFill>
                <a:latin typeface="Cambria"/>
              </a:rPr>
              <a:t>Football AI · Team</a:t>
            </a:r>
          </a:p>
        </p:txBody>
      </p:sp>
      <p:sp>
        <p:nvSpPr>
          <p:cNvPr id="10" name="TextBox 9"/>
          <p:cNvSpPr txBox="1"/>
          <p:nvPr/>
        </p:nvSpPr>
        <p:spPr>
          <a:xfrm>
            <a:off x="731520" y="2286000"/>
            <a:ext cx="3246120" cy="1097280"/>
          </a:xfrm>
          <a:prstGeom prst="rect">
            <a:avLst/>
          </a:prstGeom>
          <a:noFill/>
        </p:spPr>
        <p:txBody>
          <a:bodyPr wrap="square" anchor="t" lIns="45720" rIns="45720">
            <a:spAutoFit/>
          </a:bodyPr>
          <a:lstStyle/>
          <a:p>
            <a:pPr algn="l"/>
            <a:r>
              <a:rPr sz="1500" b="0">
                <a:solidFill>
                  <a:srgbClr val="FFFFFF"/>
                </a:solidFill>
                <a:latin typeface="Calibri"/>
              </a:rPr>
              <a:t>Tracking, goal zones, possession, MVP</a:t>
            </a:r>
          </a:p>
        </p:txBody>
      </p:sp>
      <p:sp>
        <p:nvSpPr>
          <p:cNvPr id="11" name="Rounded Rectangle 10"/>
          <p:cNvSpPr/>
          <p:nvPr/>
        </p:nvSpPr>
        <p:spPr>
          <a:xfrm>
            <a:off x="4343400" y="1645920"/>
            <a:ext cx="3611880" cy="182880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783080"/>
            <a:ext cx="3246120" cy="457200"/>
          </a:xfrm>
          <a:prstGeom prst="rect">
            <a:avLst/>
          </a:prstGeom>
          <a:noFill/>
        </p:spPr>
        <p:txBody>
          <a:bodyPr wrap="square" anchor="t" lIns="45720" rIns="45720">
            <a:spAutoFit/>
          </a:bodyPr>
          <a:lstStyle/>
          <a:p>
            <a:pPr algn="l"/>
            <a:r>
              <a:rPr sz="2000" b="1">
                <a:solidFill>
                  <a:srgbClr val="FFFFFF"/>
                </a:solidFill>
                <a:latin typeface="Cambria"/>
              </a:rPr>
              <a:t>Falaj Flow · Team</a:t>
            </a:r>
          </a:p>
        </p:txBody>
      </p:sp>
      <p:sp>
        <p:nvSpPr>
          <p:cNvPr id="13" name="TextBox 12"/>
          <p:cNvSpPr txBox="1"/>
          <p:nvPr/>
        </p:nvSpPr>
        <p:spPr>
          <a:xfrm>
            <a:off x="4526280" y="2286000"/>
            <a:ext cx="3246120" cy="1097280"/>
          </a:xfrm>
          <a:prstGeom prst="rect">
            <a:avLst/>
          </a:prstGeom>
          <a:noFill/>
        </p:spPr>
        <p:txBody>
          <a:bodyPr wrap="square" anchor="t" lIns="45720" rIns="45720">
            <a:spAutoFit/>
          </a:bodyPr>
          <a:lstStyle/>
          <a:p>
            <a:pPr algn="l"/>
            <a:r>
              <a:rPr sz="1500" b="0">
                <a:solidFill>
                  <a:srgbClr val="FFFFFF"/>
                </a:solidFill>
                <a:latin typeface="Calibri"/>
              </a:rPr>
              <a:t>ArUco tile reading, graph, water routes</a:t>
            </a:r>
          </a:p>
        </p:txBody>
      </p:sp>
      <p:sp>
        <p:nvSpPr>
          <p:cNvPr id="14" name="Rounded Rectangle 13"/>
          <p:cNvSpPr/>
          <p:nvPr/>
        </p:nvSpPr>
        <p:spPr>
          <a:xfrm>
            <a:off x="8138160" y="1645920"/>
            <a:ext cx="3611880" cy="1828800"/>
          </a:xfrm>
          <a:prstGeom prst="roundRect">
            <a:avLst>
              <a:gd name="adj" fmla="val 6000"/>
            </a:avLst>
          </a:prstGeom>
          <a:solidFill>
            <a:srgbClr val="B92D39"/>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783080"/>
            <a:ext cx="3246120" cy="457200"/>
          </a:xfrm>
          <a:prstGeom prst="rect">
            <a:avLst/>
          </a:prstGeom>
          <a:noFill/>
        </p:spPr>
        <p:txBody>
          <a:bodyPr wrap="square" anchor="t" lIns="45720" rIns="45720">
            <a:spAutoFit/>
          </a:bodyPr>
          <a:lstStyle/>
          <a:p>
            <a:pPr algn="l"/>
            <a:r>
              <a:rPr sz="2000" b="1">
                <a:solidFill>
                  <a:srgbClr val="FFFFFF"/>
                </a:solidFill>
                <a:latin typeface="Cambria"/>
              </a:rPr>
              <a:t>Souq Signal · Individual</a:t>
            </a:r>
          </a:p>
        </p:txBody>
      </p:sp>
      <p:sp>
        <p:nvSpPr>
          <p:cNvPr id="16" name="TextBox 15"/>
          <p:cNvSpPr txBox="1"/>
          <p:nvPr/>
        </p:nvSpPr>
        <p:spPr>
          <a:xfrm>
            <a:off x="8321040" y="2286000"/>
            <a:ext cx="3246120" cy="1097280"/>
          </a:xfrm>
          <a:prstGeom prst="rect">
            <a:avLst/>
          </a:prstGeom>
          <a:noFill/>
        </p:spPr>
        <p:txBody>
          <a:bodyPr wrap="square" anchor="t" lIns="45720" rIns="45720">
            <a:spAutoFit/>
          </a:bodyPr>
          <a:lstStyle/>
          <a:p>
            <a:pPr algn="l"/>
            <a:r>
              <a:rPr sz="1500" b="0">
                <a:solidFill>
                  <a:srgbClr val="FFFFFF"/>
                </a:solidFill>
                <a:latin typeface="Calibri"/>
              </a:rPr>
              <a:t>Cards + speech + budget agreement</a:t>
            </a:r>
          </a:p>
        </p:txBody>
      </p:sp>
      <p:sp>
        <p:nvSpPr>
          <p:cNvPr id="17" name="Rectangle 16"/>
          <p:cNvSpPr/>
          <p:nvPr/>
        </p:nvSpPr>
        <p:spPr>
          <a:xfrm>
            <a:off x="2139696" y="3694176"/>
            <a:ext cx="3950208" cy="25100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3-library.png"/>
          <p:cNvPicPr>
            <a:picLocks noChangeAspect="1"/>
          </p:cNvPicPr>
          <p:nvPr/>
        </p:nvPicPr>
        <p:blipFill>
          <a:blip r:embed="rId3"/>
          <a:stretch>
            <a:fillRect/>
          </a:stretch>
        </p:blipFill>
        <p:spPr>
          <a:xfrm>
            <a:off x="2194560" y="3749039"/>
            <a:ext cx="3840480" cy="2400300"/>
          </a:xfrm>
          <a:prstGeom prst="rect">
            <a:avLst/>
          </a:prstGeom>
        </p:spPr>
      </p:pic>
      <p:sp>
        <p:nvSpPr>
          <p:cNvPr id="19" name="TextBox 18"/>
          <p:cNvSpPr txBox="1"/>
          <p:nvPr/>
        </p:nvSpPr>
        <p:spPr>
          <a:xfrm>
            <a:off x="6583680" y="3840480"/>
            <a:ext cx="5120640" cy="2377440"/>
          </a:xfrm>
          <a:prstGeom prst="rect">
            <a:avLst/>
          </a:prstGeom>
          <a:noFill/>
        </p:spPr>
        <p:txBody>
          <a:bodyPr wrap="square">
            <a:spAutoFit/>
          </a:bodyPr>
          <a:lstStyle/>
          <a:p>
            <a:pPr>
              <a:spcAft>
                <a:spcPts val="800"/>
              </a:spcAft>
            </a:pPr>
            <a:r>
              <a:rPr sz="1300">
                <a:solidFill>
                  <a:srgbClr val="C6A36B"/>
                </a:solidFill>
              </a:rPr>
              <a:t>◆  </a:t>
            </a:r>
            <a:r>
              <a:rPr sz="1900" b="0">
                <a:solidFill>
                  <a:srgbClr val="26313C"/>
                </a:solidFill>
                <a:latin typeface="Calibri"/>
              </a:rPr>
              <a:t>Team </a:t>
            </a:r>
            <a:r>
              <a:rPr sz="1900" b="1">
                <a:solidFill>
                  <a:srgbClr val="26313C"/>
                </a:solidFill>
                <a:latin typeface="Calibri"/>
              </a:rPr>
              <a:t>and</a:t>
            </a:r>
            <a:r>
              <a:rPr sz="1900" b="0">
                <a:solidFill>
                  <a:srgbClr val="26313C"/>
                </a:solidFill>
                <a:latin typeface="Calibri"/>
              </a:rPr>
              <a:t> individual play</a:t>
            </a:r>
          </a:p>
          <a:p>
            <a:pPr>
              <a:spcAft>
                <a:spcPts val="800"/>
              </a:spcAft>
            </a:pPr>
            <a:r>
              <a:rPr sz="1300">
                <a:solidFill>
                  <a:srgbClr val="C6A36B"/>
                </a:solidFill>
              </a:rPr>
              <a:t>◆  </a:t>
            </a:r>
            <a:r>
              <a:rPr sz="1900" b="0">
                <a:solidFill>
                  <a:srgbClr val="26313C"/>
                </a:solidFill>
                <a:latin typeface="Calibri"/>
              </a:rPr>
              <a:t>No excluded example games</a:t>
            </a:r>
          </a:p>
          <a:p>
            <a:pPr>
              <a:spcAft>
                <a:spcPts val="800"/>
              </a:spcAft>
            </a:pPr>
            <a:r>
              <a:rPr sz="1300">
                <a:solidFill>
                  <a:srgbClr val="C6A36B"/>
                </a:solidFill>
              </a:rPr>
              <a:t>◆  </a:t>
            </a:r>
            <a:r>
              <a:rPr sz="1900" b="0">
                <a:solidFill>
                  <a:srgbClr val="26313C"/>
                </a:solidFill>
                <a:latin typeface="Calibri"/>
              </a:rPr>
              <a:t>Printable boards and cards included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GAME 1 · TEAM</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Football AI: overview</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11</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TextBox 7"/>
          <p:cNvSpPr txBox="1"/>
          <p:nvPr/>
        </p:nvSpPr>
        <p:spPr>
          <a:xfrm>
            <a:off x="548640" y="1737360"/>
            <a:ext cx="5852160" cy="4206240"/>
          </a:xfrm>
          <a:prstGeom prst="rect">
            <a:avLst/>
          </a:prstGeom>
          <a:noFill/>
        </p:spPr>
        <p:txBody>
          <a:bodyPr wrap="square">
            <a:spAutoFit/>
          </a:bodyPr>
          <a:lstStyle/>
          <a:p>
            <a:pPr>
              <a:spcAft>
                <a:spcPts val="800"/>
              </a:spcAft>
            </a:pPr>
            <a:r>
              <a:rPr sz="1400">
                <a:solidFill>
                  <a:srgbClr val="C6A36B"/>
                </a:solidFill>
              </a:rPr>
              <a:t>◆  </a:t>
            </a:r>
            <a:r>
              <a:rPr sz="2000" b="0">
                <a:solidFill>
                  <a:srgbClr val="26313C"/>
                </a:solidFill>
                <a:latin typeface="Calibri"/>
              </a:rPr>
              <a:t>Mini-match, fixed camera, bright ball, marked goals</a:t>
            </a:r>
          </a:p>
          <a:p>
            <a:pPr>
              <a:spcAft>
                <a:spcPts val="800"/>
              </a:spcAft>
            </a:pPr>
            <a:r>
              <a:rPr sz="1400">
                <a:solidFill>
                  <a:srgbClr val="C6A36B"/>
                </a:solidFill>
              </a:rPr>
              <a:t>◆  </a:t>
            </a:r>
            <a:r>
              <a:rPr sz="2000" b="0">
                <a:solidFill>
                  <a:srgbClr val="26313C"/>
                </a:solidFill>
                <a:latin typeface="Calibri"/>
              </a:rPr>
              <a:t>Valid goal </a:t>
            </a:r>
            <a:r>
              <a:rPr sz="2000" b="1">
                <a:solidFill>
                  <a:srgbClr val="26313C"/>
                </a:solidFill>
                <a:latin typeface="Calibri"/>
              </a:rPr>
              <a:t>+1</a:t>
            </a:r>
            <a:r>
              <a:rPr sz="2000" b="0">
                <a:solidFill>
                  <a:srgbClr val="26313C"/>
                </a:solidFill>
                <a:latin typeface="Calibri"/>
              </a:rPr>
              <a:t>; unsupported goal </a:t>
            </a:r>
            <a:r>
              <a:rPr sz="2000" b="1">
                <a:solidFill>
                  <a:srgbClr val="26313C"/>
                </a:solidFill>
                <a:latin typeface="Calibri"/>
              </a:rPr>
              <a:t>0</a:t>
            </a:r>
          </a:p>
          <a:p>
            <a:pPr>
              <a:spcAft>
                <a:spcPts val="800"/>
              </a:spcAft>
            </a:pPr>
            <a:r>
              <a:rPr sz="1400">
                <a:solidFill>
                  <a:srgbClr val="C6A36B"/>
                </a:solidFill>
              </a:rPr>
              <a:t>◆  </a:t>
            </a:r>
            <a:r>
              <a:rPr sz="2000" b="0">
                <a:solidFill>
                  <a:srgbClr val="26313C"/>
                </a:solidFill>
                <a:latin typeface="Calibri"/>
              </a:rPr>
              <a:t>Winner: highest verified score</a:t>
            </a:r>
          </a:p>
          <a:p>
            <a:pPr>
              <a:spcAft>
                <a:spcPts val="800"/>
              </a:spcAft>
            </a:pPr>
            <a:r>
              <a:rPr sz="1400">
                <a:solidFill>
                  <a:srgbClr val="C6A36B"/>
                </a:solidFill>
              </a:rPr>
              <a:t>◆  </a:t>
            </a:r>
            <a:r>
              <a:rPr sz="2000" b="0">
                <a:solidFill>
                  <a:srgbClr val="26313C"/>
                </a:solidFill>
                <a:latin typeface="Calibri"/>
              </a:rPr>
              <a:t>Tie: configurable </a:t>
            </a:r>
            <a:r>
              <a:rPr sz="2000" b="1">
                <a:solidFill>
                  <a:srgbClr val="26313C"/>
                </a:solidFill>
                <a:latin typeface="Calibri"/>
              </a:rPr>
              <a:t>golden goal</a:t>
            </a:r>
          </a:p>
          <a:p>
            <a:pPr>
              <a:spcAft>
                <a:spcPts val="800"/>
              </a:spcAft>
            </a:pPr>
            <a:r>
              <a:rPr sz="1400">
                <a:solidFill>
                  <a:srgbClr val="C6A36B"/>
                </a:solidFill>
              </a:rPr>
              <a:t>◆  </a:t>
            </a:r>
            <a:r>
              <a:rPr sz="2000" b="1">
                <a:solidFill>
                  <a:srgbClr val="26313C"/>
                </a:solidFill>
                <a:latin typeface="Calibri"/>
              </a:rPr>
              <a:t>MVP</a:t>
            </a:r>
            <a:r>
              <a:rPr sz="2000" b="0">
                <a:solidFill>
                  <a:srgbClr val="26313C"/>
                </a:solidFill>
                <a:latin typeface="Calibri"/>
              </a:rPr>
              <a:t> = longest verified possession</a:t>
            </a:r>
          </a:p>
          <a:p>
            <a:pPr>
              <a:spcAft>
                <a:spcPts val="800"/>
              </a:spcAft>
            </a:pPr>
            <a:r>
              <a:rPr sz="1400">
                <a:solidFill>
                  <a:srgbClr val="C6A36B"/>
                </a:solidFill>
              </a:rPr>
              <a:t>◆  </a:t>
            </a:r>
            <a:r>
              <a:rPr sz="2000" b="0">
                <a:solidFill>
                  <a:srgbClr val="26313C"/>
                </a:solidFill>
                <a:latin typeface="Calibri"/>
              </a:rPr>
              <a:t>Host penalty −1 (audit-logged)</a:t>
            </a:r>
          </a:p>
        </p:txBody>
      </p:sp>
      <p:sp>
        <p:nvSpPr>
          <p:cNvPr id="9" name="Rectangle 8"/>
          <p:cNvSpPr/>
          <p:nvPr/>
        </p:nvSpPr>
        <p:spPr>
          <a:xfrm>
            <a:off x="6620256" y="1682495"/>
            <a:ext cx="5047488" cy="31958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prepare.png"/>
          <p:cNvPicPr>
            <a:picLocks noChangeAspect="1"/>
          </p:cNvPicPr>
          <p:nvPr/>
        </p:nvPicPr>
        <p:blipFill>
          <a:blip r:embed="rId3"/>
          <a:stretch>
            <a:fillRect/>
          </a:stretch>
        </p:blipFill>
        <p:spPr>
          <a:xfrm>
            <a:off x="6675120" y="1737360"/>
            <a:ext cx="4937760" cy="3086100"/>
          </a:xfrm>
          <a:prstGeom prst="rect">
            <a:avLst/>
          </a:prstGeom>
        </p:spPr>
      </p:pic>
      <p:sp>
        <p:nvSpPr>
          <p:cNvPr id="11" name="TextBox 10"/>
          <p:cNvSpPr txBox="1"/>
          <p:nvPr/>
        </p:nvSpPr>
        <p:spPr>
          <a:xfrm>
            <a:off x="6675120" y="4914900"/>
            <a:ext cx="4937760" cy="274320"/>
          </a:xfrm>
          <a:prstGeom prst="rect">
            <a:avLst/>
          </a:prstGeom>
          <a:noFill/>
        </p:spPr>
        <p:txBody>
          <a:bodyPr wrap="square" anchor="t" lIns="45720" rIns="45720">
            <a:spAutoFit/>
          </a:bodyPr>
          <a:lstStyle/>
          <a:p>
            <a:pPr algn="l"/>
            <a:r>
              <a:rPr sz="1100" b="0">
                <a:solidFill>
                  <a:srgbClr val="26313C"/>
                </a:solidFill>
                <a:latin typeface="Calibri"/>
              </a:rPr>
              <a:t>Goal-zone calibration in Game Preparation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HOW IT SEES</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Football AI: tracking</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12</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TextBox 7"/>
          <p:cNvSpPr txBox="1"/>
          <p:nvPr/>
        </p:nvSpPr>
        <p:spPr>
          <a:xfrm>
            <a:off x="548640" y="1737360"/>
            <a:ext cx="5486400" cy="4206240"/>
          </a:xfrm>
          <a:prstGeom prst="rect">
            <a:avLst/>
          </a:prstGeom>
          <a:noFill/>
        </p:spPr>
        <p:txBody>
          <a:bodyPr wrap="square">
            <a:spAutoFit/>
          </a:bodyPr>
          <a:lstStyle/>
          <a:p>
            <a:pPr>
              <a:spcAft>
                <a:spcPts val="800"/>
              </a:spcAft>
            </a:pPr>
            <a:r>
              <a:rPr sz="1300">
                <a:solidFill>
                  <a:srgbClr val="C6A36B"/>
                </a:solidFill>
              </a:rPr>
              <a:t>◆  </a:t>
            </a:r>
            <a:r>
              <a:rPr sz="1900" b="0">
                <a:solidFill>
                  <a:srgbClr val="26313C"/>
                </a:solidFill>
                <a:latin typeface="Calibri"/>
              </a:rPr>
              <a:t>Frames sampled at </a:t>
            </a:r>
            <a:r>
              <a:rPr sz="1900" b="1">
                <a:solidFill>
                  <a:srgbClr val="26313C"/>
                </a:solidFill>
                <a:latin typeface="Calibri"/>
              </a:rPr>
              <a:t>10 fps</a:t>
            </a:r>
          </a:p>
          <a:p>
            <a:pPr>
              <a:spcAft>
                <a:spcPts val="800"/>
              </a:spcAft>
            </a:pPr>
            <a:r>
              <a:rPr sz="1300">
                <a:solidFill>
                  <a:srgbClr val="C6A36B"/>
                </a:solidFill>
              </a:rPr>
              <a:t>◆  </a:t>
            </a:r>
            <a:r>
              <a:rPr sz="1900" b="0">
                <a:solidFill>
                  <a:srgbClr val="26313C"/>
                </a:solidFill>
                <a:latin typeface="Calibri"/>
              </a:rPr>
              <a:t>Ball = best </a:t>
            </a:r>
            <a:r>
              <a:rPr sz="1900" b="1">
                <a:solidFill>
                  <a:srgbClr val="26313C"/>
                </a:solidFill>
                <a:latin typeface="Calibri"/>
              </a:rPr>
              <a:t>circular contour</a:t>
            </a:r>
            <a:r>
              <a:rPr sz="1900" b="0">
                <a:solidFill>
                  <a:srgbClr val="26313C"/>
                </a:solidFill>
                <a:latin typeface="Calibri"/>
              </a:rPr>
              <a:t> in a calibrated colour range</a:t>
            </a:r>
          </a:p>
          <a:p>
            <a:pPr>
              <a:spcAft>
                <a:spcPts val="800"/>
              </a:spcAft>
            </a:pPr>
            <a:r>
              <a:rPr sz="1300">
                <a:solidFill>
                  <a:srgbClr val="C6A36B"/>
                </a:solidFill>
              </a:rPr>
              <a:t>◆  </a:t>
            </a:r>
            <a:r>
              <a:rPr sz="1900" b="0">
                <a:solidFill>
                  <a:srgbClr val="26313C"/>
                </a:solidFill>
                <a:latin typeface="Calibri"/>
              </a:rPr>
              <a:t>Players = </a:t>
            </a:r>
            <a:r>
              <a:rPr sz="1900" b="1">
                <a:solidFill>
                  <a:srgbClr val="26313C"/>
                </a:solidFill>
                <a:latin typeface="Calibri"/>
              </a:rPr>
              <a:t>team-colour blobs</a:t>
            </a:r>
            <a:r>
              <a:rPr sz="1900" b="0">
                <a:solidFill>
                  <a:srgbClr val="26313C"/>
                </a:solidFill>
                <a:latin typeface="Calibri"/>
              </a:rPr>
              <a:t>, tracked frame to frame</a:t>
            </a:r>
          </a:p>
          <a:p>
            <a:pPr>
              <a:spcAft>
                <a:spcPts val="800"/>
              </a:spcAft>
            </a:pPr>
            <a:r>
              <a:rPr sz="1300">
                <a:solidFill>
                  <a:srgbClr val="C6A36B"/>
                </a:solidFill>
              </a:rPr>
              <a:t>◆  </a:t>
            </a:r>
            <a:r>
              <a:rPr sz="1900" b="0">
                <a:solidFill>
                  <a:srgbClr val="26313C"/>
                </a:solidFill>
                <a:latin typeface="Calibri"/>
              </a:rPr>
              <a:t>Only </a:t>
            </a:r>
            <a:r>
              <a:rPr sz="1900" b="1">
                <a:solidFill>
                  <a:srgbClr val="26313C"/>
                </a:solidFill>
                <a:latin typeface="Calibri"/>
              </a:rPr>
              <a:t>observed</a:t>
            </a:r>
            <a:r>
              <a:rPr sz="1900" b="0">
                <a:solidFill>
                  <a:srgbClr val="26313C"/>
                </a:solidFill>
                <a:latin typeface="Calibri"/>
              </a:rPr>
              <a:t> positions count: no interpolation</a:t>
            </a:r>
          </a:p>
          <a:p>
            <a:pPr>
              <a:spcAft>
                <a:spcPts val="800"/>
              </a:spcAft>
            </a:pPr>
            <a:r>
              <a:rPr sz="1300">
                <a:solidFill>
                  <a:srgbClr val="C6A36B"/>
                </a:solidFill>
              </a:rPr>
              <a:t>◆  </a:t>
            </a:r>
            <a:r>
              <a:rPr sz="1900" b="0">
                <a:solidFill>
                  <a:srgbClr val="26313C"/>
                </a:solidFill>
                <a:latin typeface="Calibri"/>
              </a:rPr>
              <a:t>Players are tracks; the host maps tracks to names</a:t>
            </a:r>
          </a:p>
        </p:txBody>
      </p:sp>
      <p:sp>
        <p:nvSpPr>
          <p:cNvPr id="9" name="Rectangle 8"/>
          <p:cNvSpPr/>
          <p:nvPr/>
        </p:nvSpPr>
        <p:spPr>
          <a:xfrm>
            <a:off x="6254496" y="1682495"/>
            <a:ext cx="5413248" cy="34244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oal-2-before.jpg"/>
          <p:cNvPicPr>
            <a:picLocks noChangeAspect="1"/>
          </p:cNvPicPr>
          <p:nvPr/>
        </p:nvPicPr>
        <p:blipFill>
          <a:blip r:embed="rId3"/>
          <a:stretch>
            <a:fillRect/>
          </a:stretch>
        </p:blipFill>
        <p:spPr>
          <a:xfrm>
            <a:off x="6309360" y="1737360"/>
            <a:ext cx="5303520" cy="2983230"/>
          </a:xfrm>
          <a:prstGeom prst="rect">
            <a:avLst/>
          </a:prstGeom>
        </p:spPr>
      </p:pic>
      <p:sp>
        <p:nvSpPr>
          <p:cNvPr id="11" name="TextBox 10"/>
          <p:cNvSpPr txBox="1"/>
          <p:nvPr/>
        </p:nvSpPr>
        <p:spPr>
          <a:xfrm>
            <a:off x="6309360" y="5143500"/>
            <a:ext cx="5303520" cy="274320"/>
          </a:xfrm>
          <a:prstGeom prst="rect">
            <a:avLst/>
          </a:prstGeom>
          <a:noFill/>
        </p:spPr>
        <p:txBody>
          <a:bodyPr wrap="square" anchor="t" lIns="45720" rIns="45720">
            <a:spAutoFit/>
          </a:bodyPr>
          <a:lstStyle/>
          <a:p>
            <a:pPr algn="l"/>
            <a:r>
              <a:rPr sz="1100" b="0">
                <a:solidFill>
                  <a:srgbClr val="26313C"/>
                </a:solidFill>
                <a:latin typeface="Calibri"/>
              </a:rPr>
              <a:t>Tracked ball trail and player boxes (synthetic fixture)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EVIDENCE</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Football AI: referee replay</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13</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ectangle 7"/>
          <p:cNvSpPr/>
          <p:nvPr/>
        </p:nvSpPr>
        <p:spPr>
          <a:xfrm>
            <a:off x="493776" y="1591056"/>
            <a:ext cx="5413248" cy="34244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oal-2-moment.jpg"/>
          <p:cNvPicPr>
            <a:picLocks noChangeAspect="1"/>
          </p:cNvPicPr>
          <p:nvPr/>
        </p:nvPicPr>
        <p:blipFill>
          <a:blip r:embed="rId3"/>
          <a:stretch>
            <a:fillRect/>
          </a:stretch>
        </p:blipFill>
        <p:spPr>
          <a:xfrm>
            <a:off x="548640" y="1645920"/>
            <a:ext cx="5303520" cy="2983230"/>
          </a:xfrm>
          <a:prstGeom prst="rect">
            <a:avLst/>
          </a:prstGeom>
        </p:spPr>
      </p:pic>
      <p:sp>
        <p:nvSpPr>
          <p:cNvPr id="10" name="TextBox 9"/>
          <p:cNvSpPr txBox="1"/>
          <p:nvPr/>
        </p:nvSpPr>
        <p:spPr>
          <a:xfrm>
            <a:off x="548640" y="5052059"/>
            <a:ext cx="5303520" cy="274320"/>
          </a:xfrm>
          <a:prstGeom prst="rect">
            <a:avLst/>
          </a:prstGeom>
          <a:noFill/>
        </p:spPr>
        <p:txBody>
          <a:bodyPr wrap="square" anchor="t" lIns="45720" rIns="45720">
            <a:spAutoFit/>
          </a:bodyPr>
          <a:lstStyle/>
          <a:p>
            <a:pPr algn="l"/>
            <a:r>
              <a:rPr sz="1100" b="0">
                <a:solidFill>
                  <a:srgbClr val="26313C"/>
                </a:solidFill>
                <a:latin typeface="Calibri"/>
              </a:rPr>
              <a:t>The moment</a:t>
            </a:r>
          </a:p>
        </p:txBody>
      </p:sp>
      <p:sp>
        <p:nvSpPr>
          <p:cNvPr id="11" name="Rectangle 10"/>
          <p:cNvSpPr/>
          <p:nvPr/>
        </p:nvSpPr>
        <p:spPr>
          <a:xfrm>
            <a:off x="6163056" y="1591056"/>
            <a:ext cx="5413248" cy="34244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oal-2-after.jpg"/>
          <p:cNvPicPr>
            <a:picLocks noChangeAspect="1"/>
          </p:cNvPicPr>
          <p:nvPr/>
        </p:nvPicPr>
        <p:blipFill>
          <a:blip r:embed="rId4"/>
          <a:stretch>
            <a:fillRect/>
          </a:stretch>
        </p:blipFill>
        <p:spPr>
          <a:xfrm>
            <a:off x="6217920" y="1645920"/>
            <a:ext cx="5303520" cy="2983230"/>
          </a:xfrm>
          <a:prstGeom prst="rect">
            <a:avLst/>
          </a:prstGeom>
        </p:spPr>
      </p:pic>
      <p:sp>
        <p:nvSpPr>
          <p:cNvPr id="13" name="TextBox 12"/>
          <p:cNvSpPr txBox="1"/>
          <p:nvPr/>
        </p:nvSpPr>
        <p:spPr>
          <a:xfrm>
            <a:off x="6217920" y="5052059"/>
            <a:ext cx="5303520" cy="274320"/>
          </a:xfrm>
          <a:prstGeom prst="rect">
            <a:avLst/>
          </a:prstGeom>
          <a:noFill/>
        </p:spPr>
        <p:txBody>
          <a:bodyPr wrap="square" anchor="t" lIns="45720" rIns="45720">
            <a:spAutoFit/>
          </a:bodyPr>
          <a:lstStyle/>
          <a:p>
            <a:pPr algn="l"/>
            <a:r>
              <a:rPr sz="1100" b="0">
                <a:solidFill>
                  <a:srgbClr val="26313C"/>
                </a:solidFill>
                <a:latin typeface="Calibri"/>
              </a:rPr>
              <a:t>After</a:t>
            </a:r>
          </a:p>
        </p:txBody>
      </p:sp>
      <p:sp>
        <p:nvSpPr>
          <p:cNvPr id="14" name="TextBox 13"/>
          <p:cNvSpPr txBox="1"/>
          <p:nvPr/>
        </p:nvSpPr>
        <p:spPr>
          <a:xfrm>
            <a:off x="548640" y="5486400"/>
            <a:ext cx="10972800" cy="914400"/>
          </a:xfrm>
          <a:prstGeom prst="rect">
            <a:avLst/>
          </a:prstGeom>
          <a:noFill/>
        </p:spPr>
        <p:txBody>
          <a:bodyPr wrap="square">
            <a:spAutoFit/>
          </a:bodyPr>
          <a:lstStyle/>
          <a:p>
            <a:pPr>
              <a:spcAft>
                <a:spcPts val="800"/>
              </a:spcAft>
            </a:pPr>
            <a:r>
              <a:rPr sz="900">
                <a:solidFill>
                  <a:srgbClr val="C6A36B"/>
                </a:solidFill>
              </a:rPr>
              <a:t>◆  </a:t>
            </a:r>
            <a:r>
              <a:rPr sz="1500" b="0">
                <a:solidFill>
                  <a:srgbClr val="26313C"/>
                </a:solidFill>
                <a:latin typeface="Calibri"/>
              </a:rPr>
              <a:t>Rule FB-1: ball observed entering the goal zone after being seen outside: </a:t>
            </a:r>
            <a:r>
              <a:rPr sz="1500" b="1">
                <a:solidFill>
                  <a:srgbClr val="26313C"/>
                </a:solidFill>
                <a:latin typeface="Calibri"/>
              </a:rPr>
              <a:t>+1</a:t>
            </a:r>
            <a:r>
              <a:rPr sz="1500" b="0">
                <a:solidFill>
                  <a:srgbClr val="26313C"/>
                </a:solidFill>
                <a:latin typeface="Calibri"/>
              </a:rPr>
              <a:t>   ·   Ball lost near the goal → </a:t>
            </a:r>
            <a:r>
              <a:rPr sz="1500" b="1">
                <a:solidFill>
                  <a:srgbClr val="26313C"/>
                </a:solidFill>
                <a:latin typeface="Calibri"/>
              </a:rPr>
              <a:t>POSSIBLE_GOAL</a:t>
            </a:r>
            <a:r>
              <a:rPr sz="1500" b="0">
                <a:solidFill>
                  <a:srgbClr val="26313C"/>
                </a:solidFill>
                <a:latin typeface="Calibri"/>
              </a:rPr>
              <a:t>, 0 points until the host decides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GAME 2 · TEAM</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Falaj Flow: overview</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14</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TextBox 7"/>
          <p:cNvSpPr txBox="1"/>
          <p:nvPr/>
        </p:nvSpPr>
        <p:spPr>
          <a:xfrm>
            <a:off x="548640" y="1737360"/>
            <a:ext cx="5486400" cy="4206240"/>
          </a:xfrm>
          <a:prstGeom prst="rect">
            <a:avLst/>
          </a:prstGeom>
          <a:noFill/>
        </p:spPr>
        <p:txBody>
          <a:bodyPr wrap="square">
            <a:spAutoFit/>
          </a:bodyPr>
          <a:lstStyle/>
          <a:p>
            <a:pPr>
              <a:spcAft>
                <a:spcPts val="800"/>
              </a:spcAft>
            </a:pPr>
            <a:r>
              <a:rPr sz="1400">
                <a:solidFill>
                  <a:srgbClr val="C6A36B"/>
                </a:solidFill>
              </a:rPr>
              <a:t>◆  </a:t>
            </a:r>
            <a:r>
              <a:rPr sz="2000" b="0">
                <a:solidFill>
                  <a:srgbClr val="26313C"/>
                </a:solidFill>
                <a:latin typeface="Calibri"/>
              </a:rPr>
              <a:t>Inspired by the UAE </a:t>
            </a:r>
            <a:r>
              <a:rPr sz="2000" b="1">
                <a:solidFill>
                  <a:srgbClr val="26313C"/>
                </a:solidFill>
                <a:latin typeface="Calibri"/>
              </a:rPr>
              <a:t>falaj</a:t>
            </a:r>
            <a:r>
              <a:rPr sz="2000" b="0">
                <a:solidFill>
                  <a:srgbClr val="26313C"/>
                </a:solidFill>
                <a:latin typeface="Calibri"/>
              </a:rPr>
              <a:t> irrigation system</a:t>
            </a:r>
          </a:p>
          <a:p>
            <a:pPr>
              <a:spcAft>
                <a:spcPts val="800"/>
              </a:spcAft>
            </a:pPr>
            <a:r>
              <a:rPr sz="1400">
                <a:solidFill>
                  <a:srgbClr val="C6A36B"/>
                </a:solidFill>
              </a:rPr>
              <a:t>◆  </a:t>
            </a:r>
            <a:r>
              <a:rPr sz="2000" b="0">
                <a:solidFill>
                  <a:srgbClr val="26313C"/>
                </a:solidFill>
                <a:latin typeface="Calibri"/>
              </a:rPr>
              <a:t>Printed 5×5 board: </a:t>
            </a:r>
            <a:r>
              <a:rPr sz="2000" b="1">
                <a:solidFill>
                  <a:srgbClr val="26313C"/>
                </a:solidFill>
                <a:latin typeface="Calibri"/>
              </a:rPr>
              <a:t>well</a:t>
            </a:r>
            <a:r>
              <a:rPr sz="2000" b="0">
                <a:solidFill>
                  <a:srgbClr val="26313C"/>
                </a:solidFill>
                <a:latin typeface="Calibri"/>
              </a:rPr>
              <a:t>, three </a:t>
            </a:r>
            <a:r>
              <a:rPr sz="2000" b="1">
                <a:solidFill>
                  <a:srgbClr val="26313C"/>
                </a:solidFill>
                <a:latin typeface="Calibri"/>
              </a:rPr>
              <a:t>farms</a:t>
            </a:r>
            <a:r>
              <a:rPr sz="2000" b="0">
                <a:solidFill>
                  <a:srgbClr val="26313C"/>
                </a:solidFill>
                <a:latin typeface="Calibri"/>
              </a:rPr>
              <a:t>, a </a:t>
            </a:r>
            <a:r>
              <a:rPr sz="2000" b="1">
                <a:solidFill>
                  <a:srgbClr val="26313C"/>
                </a:solidFill>
                <a:latin typeface="Calibri"/>
              </a:rPr>
              <a:t>rock</a:t>
            </a:r>
          </a:p>
          <a:p>
            <a:pPr>
              <a:spcAft>
                <a:spcPts val="800"/>
              </a:spcAft>
            </a:pPr>
            <a:r>
              <a:rPr sz="1400">
                <a:solidFill>
                  <a:srgbClr val="C6A36B"/>
                </a:solidFill>
              </a:rPr>
              <a:t>◆  </a:t>
            </a:r>
            <a:r>
              <a:rPr sz="2000" b="0">
                <a:solidFill>
                  <a:srgbClr val="26313C"/>
                </a:solidFill>
                <a:latin typeface="Calibri"/>
              </a:rPr>
              <a:t>Teams place channel tiles for </a:t>
            </a:r>
            <a:r>
              <a:rPr sz="2000" b="1">
                <a:solidFill>
                  <a:srgbClr val="26313C"/>
                </a:solidFill>
                <a:latin typeface="Calibri"/>
              </a:rPr>
              <a:t>90 seconds</a:t>
            </a:r>
          </a:p>
          <a:p>
            <a:pPr>
              <a:spcAft>
                <a:spcPts val="800"/>
              </a:spcAft>
            </a:pPr>
            <a:r>
              <a:rPr sz="1400">
                <a:solidFill>
                  <a:srgbClr val="C6A36B"/>
                </a:solidFill>
              </a:rPr>
              <a:t>◆  </a:t>
            </a:r>
            <a:r>
              <a:rPr sz="2000" b="0">
                <a:solidFill>
                  <a:srgbClr val="26313C"/>
                </a:solidFill>
                <a:latin typeface="Calibri"/>
              </a:rPr>
              <a:t>Farm </a:t>
            </a:r>
            <a:r>
              <a:rPr sz="2000" b="1">
                <a:solidFill>
                  <a:srgbClr val="26313C"/>
                </a:solidFill>
                <a:latin typeface="Calibri"/>
              </a:rPr>
              <a:t>+3</a:t>
            </a:r>
            <a:r>
              <a:rPr sz="2000" b="0">
                <a:solidFill>
                  <a:srgbClr val="26313C"/>
                </a:solidFill>
                <a:latin typeface="Calibri"/>
              </a:rPr>
              <a:t> · leak </a:t>
            </a:r>
            <a:r>
              <a:rPr sz="2000" b="1">
                <a:solidFill>
                  <a:srgbClr val="26313C"/>
                </a:solidFill>
                <a:latin typeface="Calibri"/>
              </a:rPr>
              <a:t>−1</a:t>
            </a:r>
            <a:r>
              <a:rPr sz="2000" b="0">
                <a:solidFill>
                  <a:srgbClr val="26313C"/>
                </a:solidFill>
                <a:latin typeface="Calibri"/>
              </a:rPr>
              <a:t> · speed bonus up to </a:t>
            </a:r>
            <a:r>
              <a:rPr sz="2000" b="1">
                <a:solidFill>
                  <a:srgbClr val="26313C"/>
                </a:solidFill>
                <a:latin typeface="Calibri"/>
              </a:rPr>
              <a:t>+2</a:t>
            </a:r>
          </a:p>
          <a:p>
            <a:pPr>
              <a:spcAft>
                <a:spcPts val="800"/>
              </a:spcAft>
            </a:pPr>
            <a:r>
              <a:rPr sz="1400">
                <a:solidFill>
                  <a:srgbClr val="C6A36B"/>
                </a:solidFill>
              </a:rPr>
              <a:t>◆  </a:t>
            </a:r>
            <a:r>
              <a:rPr sz="2000" b="0">
                <a:solidFill>
                  <a:srgbClr val="26313C"/>
                </a:solidFill>
                <a:latin typeface="Calibri"/>
              </a:rPr>
              <a:t>Tie: shortest valid network, then time</a:t>
            </a:r>
          </a:p>
        </p:txBody>
      </p:sp>
      <p:sp>
        <p:nvSpPr>
          <p:cNvPr id="9" name="Rectangle 8"/>
          <p:cNvSpPr/>
          <p:nvPr/>
        </p:nvSpPr>
        <p:spPr>
          <a:xfrm>
            <a:off x="6254496" y="1682495"/>
            <a:ext cx="5413248" cy="34244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7-replay-falaj.png"/>
          <p:cNvPicPr>
            <a:picLocks noChangeAspect="1"/>
          </p:cNvPicPr>
          <p:nvPr/>
        </p:nvPicPr>
        <p:blipFill>
          <a:blip r:embed="rId3"/>
          <a:stretch>
            <a:fillRect/>
          </a:stretch>
        </p:blipFill>
        <p:spPr>
          <a:xfrm>
            <a:off x="6309360" y="1737360"/>
            <a:ext cx="5303520" cy="3314700"/>
          </a:xfrm>
          <a:prstGeom prst="rect">
            <a:avLst/>
          </a:prstGeom>
        </p:spPr>
      </p:pic>
      <p:sp>
        <p:nvSpPr>
          <p:cNvPr id="11" name="TextBox 10"/>
          <p:cNvSpPr txBox="1"/>
          <p:nvPr/>
        </p:nvSpPr>
        <p:spPr>
          <a:xfrm>
            <a:off x="6309360" y="5143500"/>
            <a:ext cx="5303520" cy="274320"/>
          </a:xfrm>
          <a:prstGeom prst="rect">
            <a:avLst/>
          </a:prstGeom>
          <a:noFill/>
        </p:spPr>
        <p:txBody>
          <a:bodyPr wrap="square" anchor="t" lIns="45720" rIns="45720">
            <a:spAutoFit/>
          </a:bodyPr>
          <a:lstStyle/>
          <a:p>
            <a:pPr algn="l"/>
            <a:r>
              <a:rPr sz="1100" b="0">
                <a:solidFill>
                  <a:srgbClr val="26313C"/>
                </a:solidFill>
                <a:latin typeface="Calibri"/>
              </a:rPr>
              <a:t>Split screen: physical board and digital twin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HOW IT THINKS</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Falaj Flow: graph intelligence</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15</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2697480" cy="210312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2331720" cy="457200"/>
          </a:xfrm>
          <a:prstGeom prst="rect">
            <a:avLst/>
          </a:prstGeom>
          <a:noFill/>
        </p:spPr>
        <p:txBody>
          <a:bodyPr wrap="square" anchor="t" lIns="45720" rIns="45720">
            <a:spAutoFit/>
          </a:bodyPr>
          <a:lstStyle/>
          <a:p>
            <a:pPr algn="l"/>
            <a:r>
              <a:rPr sz="2000" b="1">
                <a:solidFill>
                  <a:srgbClr val="FFFFFF"/>
                </a:solidFill>
                <a:latin typeface="Cambria"/>
              </a:rPr>
              <a:t>1  Calibrate</a:t>
            </a:r>
          </a:p>
        </p:txBody>
      </p:sp>
      <p:sp>
        <p:nvSpPr>
          <p:cNvPr id="10" name="TextBox 9"/>
          <p:cNvSpPr txBox="1"/>
          <p:nvPr/>
        </p:nvSpPr>
        <p:spPr>
          <a:xfrm>
            <a:off x="731520" y="2377439"/>
            <a:ext cx="2331720" cy="1371599"/>
          </a:xfrm>
          <a:prstGeom prst="rect">
            <a:avLst/>
          </a:prstGeom>
          <a:noFill/>
        </p:spPr>
        <p:txBody>
          <a:bodyPr wrap="square" anchor="t" lIns="45720" rIns="45720">
            <a:spAutoFit/>
          </a:bodyPr>
          <a:lstStyle/>
          <a:p>
            <a:pPr algn="l"/>
            <a:r>
              <a:rPr sz="1500" b="0">
                <a:solidFill>
                  <a:srgbClr val="FFFFFF"/>
                </a:solidFill>
                <a:latin typeface="Calibri"/>
              </a:rPr>
              <a:t>4 corner markers → board homography</a:t>
            </a:r>
          </a:p>
        </p:txBody>
      </p:sp>
      <p:sp>
        <p:nvSpPr>
          <p:cNvPr id="11" name="Rounded Rectangle 10"/>
          <p:cNvSpPr/>
          <p:nvPr/>
        </p:nvSpPr>
        <p:spPr>
          <a:xfrm>
            <a:off x="3383280" y="1737360"/>
            <a:ext cx="2697480" cy="2103120"/>
          </a:xfrm>
          <a:prstGeom prst="roundRect">
            <a:avLst>
              <a:gd name="adj" fmla="val 6000"/>
            </a:avLst>
          </a:prstGeom>
          <a:solidFill>
            <a:srgbClr val="167E80"/>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874519"/>
            <a:ext cx="2331720" cy="457200"/>
          </a:xfrm>
          <a:prstGeom prst="rect">
            <a:avLst/>
          </a:prstGeom>
          <a:noFill/>
        </p:spPr>
        <p:txBody>
          <a:bodyPr wrap="square" anchor="t" lIns="45720" rIns="45720">
            <a:spAutoFit/>
          </a:bodyPr>
          <a:lstStyle/>
          <a:p>
            <a:pPr algn="l"/>
            <a:r>
              <a:rPr sz="2000" b="1">
                <a:solidFill>
                  <a:srgbClr val="FFFFFF"/>
                </a:solidFill>
                <a:latin typeface="Cambria"/>
              </a:rPr>
              <a:t>2  Read tiles</a:t>
            </a:r>
          </a:p>
        </p:txBody>
      </p:sp>
      <p:sp>
        <p:nvSpPr>
          <p:cNvPr id="13" name="TextBox 12"/>
          <p:cNvSpPr txBox="1"/>
          <p:nvPr/>
        </p:nvSpPr>
        <p:spPr>
          <a:xfrm>
            <a:off x="3566160" y="2377439"/>
            <a:ext cx="2331720" cy="1371599"/>
          </a:xfrm>
          <a:prstGeom prst="rect">
            <a:avLst/>
          </a:prstGeom>
          <a:noFill/>
        </p:spPr>
        <p:txBody>
          <a:bodyPr wrap="square" anchor="t" lIns="45720" rIns="45720">
            <a:spAutoFit/>
          </a:bodyPr>
          <a:lstStyle/>
          <a:p>
            <a:pPr algn="l"/>
            <a:r>
              <a:rPr sz="1500" b="0">
                <a:solidFill>
                  <a:srgbClr val="FFFFFF"/>
                </a:solidFill>
                <a:latin typeface="Calibri"/>
              </a:rPr>
              <a:t>marker id = type, rotation = 90° steps</a:t>
            </a:r>
          </a:p>
        </p:txBody>
      </p:sp>
      <p:sp>
        <p:nvSpPr>
          <p:cNvPr id="14" name="Rounded Rectangle 13"/>
          <p:cNvSpPr/>
          <p:nvPr/>
        </p:nvSpPr>
        <p:spPr>
          <a:xfrm>
            <a:off x="6217920" y="1737360"/>
            <a:ext cx="2697480" cy="210312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74519"/>
            <a:ext cx="2331720" cy="457200"/>
          </a:xfrm>
          <a:prstGeom prst="rect">
            <a:avLst/>
          </a:prstGeom>
          <a:noFill/>
        </p:spPr>
        <p:txBody>
          <a:bodyPr wrap="square" anchor="t" lIns="45720" rIns="45720">
            <a:spAutoFit/>
          </a:bodyPr>
          <a:lstStyle/>
          <a:p>
            <a:pPr algn="l"/>
            <a:r>
              <a:rPr sz="2000" b="1">
                <a:solidFill>
                  <a:srgbClr val="FFFFFF"/>
                </a:solidFill>
                <a:latin typeface="Cambria"/>
              </a:rPr>
              <a:t>3  Stabilise</a:t>
            </a:r>
          </a:p>
        </p:txBody>
      </p:sp>
      <p:sp>
        <p:nvSpPr>
          <p:cNvPr id="16" name="TextBox 15"/>
          <p:cNvSpPr txBox="1"/>
          <p:nvPr/>
        </p:nvSpPr>
        <p:spPr>
          <a:xfrm>
            <a:off x="6400800" y="2377439"/>
            <a:ext cx="2331720" cy="1371599"/>
          </a:xfrm>
          <a:prstGeom prst="rect">
            <a:avLst/>
          </a:prstGeom>
          <a:noFill/>
        </p:spPr>
        <p:txBody>
          <a:bodyPr wrap="square" anchor="t" lIns="45720" rIns="45720">
            <a:spAutoFit/>
          </a:bodyPr>
          <a:lstStyle/>
          <a:p>
            <a:pPr algn="l"/>
            <a:r>
              <a:rPr sz="1500" b="0">
                <a:solidFill>
                  <a:srgbClr val="FFFFFF"/>
                </a:solidFill>
                <a:latin typeface="Calibri"/>
              </a:rPr>
              <a:t>state must hold 1 s: hands ignored</a:t>
            </a:r>
          </a:p>
        </p:txBody>
      </p:sp>
      <p:sp>
        <p:nvSpPr>
          <p:cNvPr id="17" name="Rounded Rectangle 16"/>
          <p:cNvSpPr/>
          <p:nvPr/>
        </p:nvSpPr>
        <p:spPr>
          <a:xfrm>
            <a:off x="9052560" y="1737360"/>
            <a:ext cx="2697480" cy="2103120"/>
          </a:xfrm>
          <a:prstGeom prst="roundRect">
            <a:avLst>
              <a:gd name="adj" fmla="val 6000"/>
            </a:avLst>
          </a:prstGeom>
          <a:solidFill>
            <a:srgbClr val="167E80"/>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1874519"/>
            <a:ext cx="2331720" cy="457200"/>
          </a:xfrm>
          <a:prstGeom prst="rect">
            <a:avLst/>
          </a:prstGeom>
          <a:noFill/>
        </p:spPr>
        <p:txBody>
          <a:bodyPr wrap="square" anchor="t" lIns="45720" rIns="45720">
            <a:spAutoFit/>
          </a:bodyPr>
          <a:lstStyle/>
          <a:p>
            <a:pPr algn="l"/>
            <a:r>
              <a:rPr sz="2000" b="1">
                <a:solidFill>
                  <a:srgbClr val="FFFFFF"/>
                </a:solidFill>
                <a:latin typeface="Cambria"/>
              </a:rPr>
              <a:t>4  Trace water</a:t>
            </a:r>
          </a:p>
        </p:txBody>
      </p:sp>
      <p:sp>
        <p:nvSpPr>
          <p:cNvPr id="19" name="TextBox 18"/>
          <p:cNvSpPr txBox="1"/>
          <p:nvPr/>
        </p:nvSpPr>
        <p:spPr>
          <a:xfrm>
            <a:off x="9235440" y="2377439"/>
            <a:ext cx="2331720" cy="1371599"/>
          </a:xfrm>
          <a:prstGeom prst="rect">
            <a:avLst/>
          </a:prstGeom>
          <a:noFill/>
        </p:spPr>
        <p:txBody>
          <a:bodyPr wrap="square" anchor="t" lIns="45720" rIns="45720">
            <a:spAutoFit/>
          </a:bodyPr>
          <a:lstStyle/>
          <a:p>
            <a:pPr algn="l"/>
            <a:r>
              <a:rPr sz="1500" b="0">
                <a:solidFill>
                  <a:srgbClr val="FFFFFF"/>
                </a:solidFill>
                <a:latin typeface="Calibri"/>
              </a:rPr>
              <a:t>BFS over matching open sides; leaks found</a:t>
            </a:r>
          </a:p>
        </p:txBody>
      </p:sp>
      <p:sp>
        <p:nvSpPr>
          <p:cNvPr id="20" name="Rectangle 19"/>
          <p:cNvSpPr/>
          <p:nvPr/>
        </p:nvSpPr>
        <p:spPr>
          <a:xfrm>
            <a:off x="3236976" y="3877056"/>
            <a:ext cx="3767328" cy="23957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inal-board.jpg"/>
          <p:cNvPicPr>
            <a:picLocks noChangeAspect="1"/>
          </p:cNvPicPr>
          <p:nvPr/>
        </p:nvPicPr>
        <p:blipFill>
          <a:blip r:embed="rId3"/>
          <a:stretch>
            <a:fillRect/>
          </a:stretch>
        </p:blipFill>
        <p:spPr>
          <a:xfrm>
            <a:off x="3291840" y="3931920"/>
            <a:ext cx="3657600" cy="2286000"/>
          </a:xfrm>
          <a:prstGeom prst="rect">
            <a:avLst/>
          </a:prstGeom>
        </p:spPr>
      </p:pic>
      <p:sp>
        <p:nvSpPr>
          <p:cNvPr id="22" name="TextBox 21"/>
          <p:cNvSpPr txBox="1"/>
          <p:nvPr/>
        </p:nvSpPr>
        <p:spPr>
          <a:xfrm>
            <a:off x="3291840" y="6309359"/>
            <a:ext cx="3657600" cy="274320"/>
          </a:xfrm>
          <a:prstGeom prst="rect">
            <a:avLst/>
          </a:prstGeom>
          <a:noFill/>
        </p:spPr>
        <p:txBody>
          <a:bodyPr wrap="square" anchor="t" lIns="45720" rIns="45720">
            <a:spAutoFit/>
          </a:bodyPr>
          <a:lstStyle/>
          <a:p>
            <a:pPr algn="l"/>
            <a:r>
              <a:rPr sz="1100" b="0">
                <a:solidFill>
                  <a:srgbClr val="26313C"/>
                </a:solidFill>
                <a:latin typeface="Calibri"/>
              </a:rPr>
              <a:t>Board read from video, water path in teal</a:t>
            </a:r>
          </a:p>
        </p:txBody>
      </p:sp>
      <p:sp>
        <p:nvSpPr>
          <p:cNvPr id="23" name="TextBox 22"/>
          <p:cNvSpPr txBox="1"/>
          <p:nvPr/>
        </p:nvSpPr>
        <p:spPr>
          <a:xfrm>
            <a:off x="7315200" y="4023360"/>
            <a:ext cx="4389120" cy="2194560"/>
          </a:xfrm>
          <a:prstGeom prst="rect">
            <a:avLst/>
          </a:prstGeom>
          <a:noFill/>
        </p:spPr>
        <p:txBody>
          <a:bodyPr wrap="square">
            <a:spAutoFit/>
          </a:bodyPr>
          <a:lstStyle/>
          <a:p>
            <a:pPr>
              <a:spcAft>
                <a:spcPts val="800"/>
              </a:spcAft>
            </a:pPr>
            <a:r>
              <a:rPr sz="1100">
                <a:solidFill>
                  <a:srgbClr val="C6A36B"/>
                </a:solidFill>
              </a:rPr>
              <a:t>◆  </a:t>
            </a:r>
            <a:r>
              <a:rPr sz="1700" b="0">
                <a:solidFill>
                  <a:srgbClr val="26313C"/>
                </a:solidFill>
                <a:latin typeface="Calibri"/>
              </a:rPr>
              <a:t>Exact tile types and rotations recovered in testing</a:t>
            </a:r>
          </a:p>
          <a:p>
            <a:pPr>
              <a:spcAft>
                <a:spcPts val="800"/>
              </a:spcAft>
            </a:pPr>
            <a:r>
              <a:rPr sz="1100">
                <a:solidFill>
                  <a:srgbClr val="C6A36B"/>
                </a:solidFill>
              </a:rPr>
              <a:t>◆  </a:t>
            </a:r>
            <a:r>
              <a:rPr sz="1700" b="0">
                <a:solidFill>
                  <a:srgbClr val="26313C"/>
                </a:solidFill>
                <a:latin typeface="Calibri"/>
              </a:rPr>
              <a:t>Leaks: edge, rock, gap, closed side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RULES</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Falaj Flow: scoring</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16</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5852160" cy="64008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3657600" cy="457200"/>
          </a:xfrm>
          <a:prstGeom prst="rect">
            <a:avLst/>
          </a:prstGeom>
          <a:noFill/>
        </p:spPr>
        <p:txBody>
          <a:bodyPr wrap="square" anchor="t" lIns="45720" rIns="45720">
            <a:spAutoFit/>
          </a:bodyPr>
          <a:lstStyle/>
          <a:p>
            <a:pPr algn="l"/>
            <a:r>
              <a:rPr sz="1900" b="1">
                <a:solidFill>
                  <a:srgbClr val="12243A"/>
                </a:solidFill>
                <a:latin typeface="Calibri"/>
              </a:rPr>
              <a:t>Farm watered</a:t>
            </a:r>
          </a:p>
        </p:txBody>
      </p:sp>
      <p:sp>
        <p:nvSpPr>
          <p:cNvPr id="10" name="TextBox 9"/>
          <p:cNvSpPr txBox="1"/>
          <p:nvPr/>
        </p:nvSpPr>
        <p:spPr>
          <a:xfrm>
            <a:off x="4206240" y="1828800"/>
            <a:ext cx="2103120" cy="457200"/>
          </a:xfrm>
          <a:prstGeom prst="rect">
            <a:avLst/>
          </a:prstGeom>
          <a:noFill/>
        </p:spPr>
        <p:txBody>
          <a:bodyPr wrap="square" anchor="t" lIns="45720" rIns="45720">
            <a:spAutoFit/>
          </a:bodyPr>
          <a:lstStyle/>
          <a:p>
            <a:pPr algn="r"/>
            <a:r>
              <a:rPr sz="1900" b="1">
                <a:solidFill>
                  <a:srgbClr val="167E80"/>
                </a:solidFill>
                <a:latin typeface="Calibri"/>
              </a:rPr>
              <a:t>+3</a:t>
            </a:r>
          </a:p>
        </p:txBody>
      </p:sp>
      <p:sp>
        <p:nvSpPr>
          <p:cNvPr id="11" name="Rounded Rectangle 10"/>
          <p:cNvSpPr/>
          <p:nvPr/>
        </p:nvSpPr>
        <p:spPr>
          <a:xfrm>
            <a:off x="548640" y="2514600"/>
            <a:ext cx="5852160" cy="64008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06040"/>
            <a:ext cx="3657600" cy="457200"/>
          </a:xfrm>
          <a:prstGeom prst="rect">
            <a:avLst/>
          </a:prstGeom>
          <a:noFill/>
        </p:spPr>
        <p:txBody>
          <a:bodyPr wrap="square" anchor="t" lIns="45720" rIns="45720">
            <a:spAutoFit/>
          </a:bodyPr>
          <a:lstStyle/>
          <a:p>
            <a:pPr algn="l"/>
            <a:r>
              <a:rPr sz="1900" b="1">
                <a:solidFill>
                  <a:srgbClr val="12243A"/>
                </a:solidFill>
                <a:latin typeface="Calibri"/>
              </a:rPr>
              <a:t>Leak</a:t>
            </a:r>
          </a:p>
        </p:txBody>
      </p:sp>
      <p:sp>
        <p:nvSpPr>
          <p:cNvPr id="13" name="TextBox 12"/>
          <p:cNvSpPr txBox="1"/>
          <p:nvPr/>
        </p:nvSpPr>
        <p:spPr>
          <a:xfrm>
            <a:off x="4206240" y="2606040"/>
            <a:ext cx="2103120" cy="457200"/>
          </a:xfrm>
          <a:prstGeom prst="rect">
            <a:avLst/>
          </a:prstGeom>
          <a:noFill/>
        </p:spPr>
        <p:txBody>
          <a:bodyPr wrap="square" anchor="t" lIns="45720" rIns="45720">
            <a:spAutoFit/>
          </a:bodyPr>
          <a:lstStyle/>
          <a:p>
            <a:pPr algn="r"/>
            <a:r>
              <a:rPr sz="1900" b="1">
                <a:solidFill>
                  <a:srgbClr val="167E80"/>
                </a:solidFill>
                <a:latin typeface="Calibri"/>
              </a:rPr>
              <a:t>−1</a:t>
            </a:r>
          </a:p>
        </p:txBody>
      </p:sp>
      <p:sp>
        <p:nvSpPr>
          <p:cNvPr id="14" name="Rounded Rectangle 13"/>
          <p:cNvSpPr/>
          <p:nvPr/>
        </p:nvSpPr>
        <p:spPr>
          <a:xfrm>
            <a:off x="548640" y="3291839"/>
            <a:ext cx="5852160" cy="64008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83280"/>
            <a:ext cx="3657600" cy="457200"/>
          </a:xfrm>
          <a:prstGeom prst="rect">
            <a:avLst/>
          </a:prstGeom>
          <a:noFill/>
        </p:spPr>
        <p:txBody>
          <a:bodyPr wrap="square" anchor="t" lIns="45720" rIns="45720">
            <a:spAutoFit/>
          </a:bodyPr>
          <a:lstStyle/>
          <a:p>
            <a:pPr algn="l"/>
            <a:r>
              <a:rPr sz="1900" b="1">
                <a:solidFill>
                  <a:srgbClr val="12243A"/>
                </a:solidFill>
                <a:latin typeface="Calibri"/>
              </a:rPr>
              <a:t>All farms ≤ 45 s</a:t>
            </a:r>
          </a:p>
        </p:txBody>
      </p:sp>
      <p:sp>
        <p:nvSpPr>
          <p:cNvPr id="16" name="TextBox 15"/>
          <p:cNvSpPr txBox="1"/>
          <p:nvPr/>
        </p:nvSpPr>
        <p:spPr>
          <a:xfrm>
            <a:off x="4206240" y="3383280"/>
            <a:ext cx="2103120" cy="457200"/>
          </a:xfrm>
          <a:prstGeom prst="rect">
            <a:avLst/>
          </a:prstGeom>
          <a:noFill/>
        </p:spPr>
        <p:txBody>
          <a:bodyPr wrap="square" anchor="t" lIns="45720" rIns="45720">
            <a:spAutoFit/>
          </a:bodyPr>
          <a:lstStyle/>
          <a:p>
            <a:pPr algn="r"/>
            <a:r>
              <a:rPr sz="1900" b="1">
                <a:solidFill>
                  <a:srgbClr val="167E80"/>
                </a:solidFill>
                <a:latin typeface="Calibri"/>
              </a:rPr>
              <a:t>+2</a:t>
            </a:r>
          </a:p>
        </p:txBody>
      </p:sp>
      <p:sp>
        <p:nvSpPr>
          <p:cNvPr id="17" name="Rounded Rectangle 16"/>
          <p:cNvSpPr/>
          <p:nvPr/>
        </p:nvSpPr>
        <p:spPr>
          <a:xfrm>
            <a:off x="548640" y="4069079"/>
            <a:ext cx="5852160" cy="64008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160520"/>
            <a:ext cx="3657600" cy="457200"/>
          </a:xfrm>
          <a:prstGeom prst="rect">
            <a:avLst/>
          </a:prstGeom>
          <a:noFill/>
        </p:spPr>
        <p:txBody>
          <a:bodyPr wrap="square" anchor="t" lIns="45720" rIns="45720">
            <a:spAutoFit/>
          </a:bodyPr>
          <a:lstStyle/>
          <a:p>
            <a:pPr algn="l"/>
            <a:r>
              <a:rPr sz="1900" b="1">
                <a:solidFill>
                  <a:srgbClr val="12243A"/>
                </a:solidFill>
                <a:latin typeface="Calibri"/>
              </a:rPr>
              <a:t>All farms ≤ 70 s</a:t>
            </a:r>
          </a:p>
        </p:txBody>
      </p:sp>
      <p:sp>
        <p:nvSpPr>
          <p:cNvPr id="19" name="TextBox 18"/>
          <p:cNvSpPr txBox="1"/>
          <p:nvPr/>
        </p:nvSpPr>
        <p:spPr>
          <a:xfrm>
            <a:off x="4206240" y="4160520"/>
            <a:ext cx="2103120" cy="457200"/>
          </a:xfrm>
          <a:prstGeom prst="rect">
            <a:avLst/>
          </a:prstGeom>
          <a:noFill/>
        </p:spPr>
        <p:txBody>
          <a:bodyPr wrap="square" anchor="t" lIns="45720" rIns="45720">
            <a:spAutoFit/>
          </a:bodyPr>
          <a:lstStyle/>
          <a:p>
            <a:pPr algn="r"/>
            <a:r>
              <a:rPr sz="1900" b="1">
                <a:solidFill>
                  <a:srgbClr val="167E80"/>
                </a:solidFill>
                <a:latin typeface="Calibri"/>
              </a:rPr>
              <a:t>+1</a:t>
            </a:r>
          </a:p>
        </p:txBody>
      </p:sp>
      <p:sp>
        <p:nvSpPr>
          <p:cNvPr id="20" name="Rounded Rectangle 19"/>
          <p:cNvSpPr/>
          <p:nvPr/>
        </p:nvSpPr>
        <p:spPr>
          <a:xfrm>
            <a:off x="548640" y="4846320"/>
            <a:ext cx="5852160" cy="64008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937760"/>
            <a:ext cx="3657600" cy="457200"/>
          </a:xfrm>
          <a:prstGeom prst="rect">
            <a:avLst/>
          </a:prstGeom>
          <a:noFill/>
        </p:spPr>
        <p:txBody>
          <a:bodyPr wrap="square" anchor="t" lIns="45720" rIns="45720">
            <a:spAutoFit/>
          </a:bodyPr>
          <a:lstStyle/>
          <a:p>
            <a:pPr algn="l"/>
            <a:r>
              <a:rPr sz="1900" b="1">
                <a:solidFill>
                  <a:srgbClr val="12243A"/>
                </a:solidFill>
                <a:latin typeface="Calibri"/>
              </a:rPr>
              <a:t>Tie-break</a:t>
            </a:r>
          </a:p>
        </p:txBody>
      </p:sp>
      <p:sp>
        <p:nvSpPr>
          <p:cNvPr id="22" name="TextBox 21"/>
          <p:cNvSpPr txBox="1"/>
          <p:nvPr/>
        </p:nvSpPr>
        <p:spPr>
          <a:xfrm>
            <a:off x="4206240" y="4937760"/>
            <a:ext cx="2103120" cy="457200"/>
          </a:xfrm>
          <a:prstGeom prst="rect">
            <a:avLst/>
          </a:prstGeom>
          <a:noFill/>
        </p:spPr>
        <p:txBody>
          <a:bodyPr wrap="square" anchor="t" lIns="45720" rIns="45720">
            <a:spAutoFit/>
          </a:bodyPr>
          <a:lstStyle/>
          <a:p>
            <a:pPr algn="r"/>
            <a:r>
              <a:rPr sz="1900" b="1">
                <a:solidFill>
                  <a:srgbClr val="167E80"/>
                </a:solidFill>
                <a:latin typeface="Calibri"/>
              </a:rPr>
              <a:t>shortest network → time</a:t>
            </a:r>
          </a:p>
        </p:txBody>
      </p:sp>
      <p:sp>
        <p:nvSpPr>
          <p:cNvPr id="23" name="Rounded Rectangle 22"/>
          <p:cNvSpPr/>
          <p:nvPr/>
        </p:nvSpPr>
        <p:spPr>
          <a:xfrm>
            <a:off x="6858000" y="1737360"/>
            <a:ext cx="4754880" cy="201168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1874519"/>
            <a:ext cx="4389120" cy="457200"/>
          </a:xfrm>
          <a:prstGeom prst="rect">
            <a:avLst/>
          </a:prstGeom>
          <a:noFill/>
        </p:spPr>
        <p:txBody>
          <a:bodyPr wrap="square" anchor="t" lIns="45720" rIns="45720">
            <a:spAutoFit/>
          </a:bodyPr>
          <a:lstStyle/>
          <a:p>
            <a:pPr algn="l"/>
            <a:r>
              <a:rPr sz="2000" b="1">
                <a:solidFill>
                  <a:srgbClr val="F7F3EB"/>
                </a:solidFill>
                <a:latin typeface="Cambria"/>
              </a:rPr>
              <a:t>Tested outcomes</a:t>
            </a:r>
          </a:p>
        </p:txBody>
      </p:sp>
      <p:sp>
        <p:nvSpPr>
          <p:cNvPr id="25" name="TextBox 24"/>
          <p:cNvSpPr txBox="1"/>
          <p:nvPr/>
        </p:nvSpPr>
        <p:spPr>
          <a:xfrm>
            <a:off x="7040880" y="2377439"/>
            <a:ext cx="4389120" cy="1280160"/>
          </a:xfrm>
          <a:prstGeom prst="rect">
            <a:avLst/>
          </a:prstGeom>
          <a:noFill/>
        </p:spPr>
        <p:txBody>
          <a:bodyPr wrap="square" anchor="t" lIns="45720" rIns="45720">
            <a:spAutoFit/>
          </a:bodyPr>
          <a:lstStyle/>
          <a:p>
            <a:pPr algn="l"/>
            <a:r>
              <a:rPr sz="1500" b="0">
                <a:solidFill>
                  <a:srgbClr val="F7F3EB"/>
                </a:solidFill>
                <a:latin typeface="Calibri"/>
              </a:rPr>
              <a:t>falaj_valid: 11 pts</a:t>
            </a:r>
          </a:p>
          <a:p>
            <a:pPr algn="l"/>
            <a:r>
              <a:rPr sz="1500" b="0">
                <a:solidFill>
                  <a:srgbClr val="F7F3EB"/>
                </a:solidFill>
                <a:latin typeface="Calibri"/>
              </a:rPr>
              <a:t>falaj_partial: 5 pts</a:t>
            </a:r>
          </a:p>
          <a:p>
            <a:pPr algn="l"/>
            <a:r>
              <a:rPr sz="1500" b="0">
                <a:solidFill>
                  <a:srgbClr val="F7F3EB"/>
                </a:solidFill>
                <a:latin typeface="Calibri"/>
              </a:rPr>
              <a:t>falaj_rock: 10 pts</a:t>
            </a:r>
          </a:p>
        </p:txBody>
      </p:sp>
      <p:sp>
        <p:nvSpPr>
          <p:cNvPr id="26" name="TextBox 25"/>
          <p:cNvSpPr txBox="1"/>
          <p:nvPr/>
        </p:nvSpPr>
        <p:spPr>
          <a:xfrm>
            <a:off x="6858000" y="4023360"/>
            <a:ext cx="4754880" cy="1371600"/>
          </a:xfrm>
          <a:prstGeom prst="rect">
            <a:avLst/>
          </a:prstGeom>
          <a:noFill/>
        </p:spPr>
        <p:txBody>
          <a:bodyPr wrap="square" anchor="t" lIns="45720" rIns="45720">
            <a:spAutoFit/>
          </a:bodyPr>
          <a:lstStyle/>
          <a:p>
            <a:pPr algn="l"/>
            <a:r>
              <a:rPr sz="1500" b="0">
                <a:solidFill>
                  <a:srgbClr val="26313C"/>
                </a:solidFill>
                <a:latin typeface="Calibri"/>
              </a:rPr>
              <a:t>Complete route 11 · partial network 5 · blocked by rock 10 (synthetic fixtures, matching ground truth).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GAME 3 · INDIVIDUAL</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Souq Signal: overview</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17</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TextBox 7"/>
          <p:cNvSpPr txBox="1"/>
          <p:nvPr/>
        </p:nvSpPr>
        <p:spPr>
          <a:xfrm>
            <a:off x="548640" y="1737360"/>
            <a:ext cx="5486400" cy="4206240"/>
          </a:xfrm>
          <a:prstGeom prst="rect">
            <a:avLst/>
          </a:prstGeom>
          <a:noFill/>
        </p:spPr>
        <p:txBody>
          <a:bodyPr wrap="square">
            <a:spAutoFit/>
          </a:bodyPr>
          <a:lstStyle/>
          <a:p>
            <a:pPr>
              <a:spcAft>
                <a:spcPts val="800"/>
              </a:spcAft>
            </a:pPr>
            <a:r>
              <a:rPr sz="1400">
                <a:solidFill>
                  <a:srgbClr val="C6A36B"/>
                </a:solidFill>
              </a:rPr>
              <a:t>◆  </a:t>
            </a:r>
            <a:r>
              <a:rPr sz="2000" b="0">
                <a:solidFill>
                  <a:srgbClr val="26313C"/>
                </a:solidFill>
                <a:latin typeface="Calibri"/>
              </a:rPr>
              <a:t>Shopping </a:t>
            </a:r>
            <a:r>
              <a:rPr sz="2000" b="1">
                <a:solidFill>
                  <a:srgbClr val="26313C"/>
                </a:solidFill>
                <a:latin typeface="Calibri"/>
              </a:rPr>
              <a:t>mission</a:t>
            </a:r>
            <a:r>
              <a:rPr sz="2000" b="0">
                <a:solidFill>
                  <a:srgbClr val="26313C"/>
                </a:solidFill>
                <a:latin typeface="Calibri"/>
              </a:rPr>
              <a:t> + </a:t>
            </a:r>
            <a:r>
              <a:rPr sz="2000" b="1">
                <a:solidFill>
                  <a:srgbClr val="26313C"/>
                </a:solidFill>
                <a:latin typeface="Calibri"/>
              </a:rPr>
              <a:t>budget</a:t>
            </a:r>
            <a:r>
              <a:rPr sz="2000" b="0">
                <a:solidFill>
                  <a:srgbClr val="26313C"/>
                </a:solidFill>
                <a:latin typeface="Calibri"/>
              </a:rPr>
              <a:t> in AED</a:t>
            </a:r>
          </a:p>
          <a:p>
            <a:pPr>
              <a:spcAft>
                <a:spcPts val="800"/>
              </a:spcAft>
            </a:pPr>
            <a:r>
              <a:rPr sz="1400">
                <a:solidFill>
                  <a:srgbClr val="C6A36B"/>
                </a:solidFill>
              </a:rPr>
              <a:t>◆  </a:t>
            </a:r>
            <a:r>
              <a:rPr sz="2000" b="0">
                <a:solidFill>
                  <a:srgbClr val="26313C"/>
                </a:solidFill>
                <a:latin typeface="Calibri"/>
              </a:rPr>
              <a:t>Pick product cards: dates, coffee, spices, pottery, textile, oud…</a:t>
            </a:r>
          </a:p>
          <a:p>
            <a:pPr>
              <a:spcAft>
                <a:spcPts val="800"/>
              </a:spcAft>
            </a:pPr>
            <a:r>
              <a:rPr sz="1400">
                <a:solidFill>
                  <a:srgbClr val="C6A36B"/>
                </a:solidFill>
              </a:rPr>
              <a:t>◆  </a:t>
            </a:r>
            <a:r>
              <a:rPr sz="2000" b="1">
                <a:solidFill>
                  <a:srgbClr val="26313C"/>
                </a:solidFill>
                <a:latin typeface="Calibri"/>
              </a:rPr>
              <a:t>Show</a:t>
            </a:r>
            <a:r>
              <a:rPr sz="2000" b="0">
                <a:solidFill>
                  <a:srgbClr val="26313C"/>
                </a:solidFill>
                <a:latin typeface="Calibri"/>
              </a:rPr>
              <a:t> each card to the camera and </a:t>
            </a:r>
            <a:r>
              <a:rPr sz="2000" b="1">
                <a:solidFill>
                  <a:srgbClr val="26313C"/>
                </a:solidFill>
                <a:latin typeface="Calibri"/>
              </a:rPr>
              <a:t>say</a:t>
            </a:r>
            <a:r>
              <a:rPr sz="2000" b="0">
                <a:solidFill>
                  <a:srgbClr val="26313C"/>
                </a:solidFill>
                <a:latin typeface="Calibri"/>
              </a:rPr>
              <a:t> its name</a:t>
            </a:r>
          </a:p>
          <a:p>
            <a:pPr>
              <a:spcAft>
                <a:spcPts val="800"/>
              </a:spcAft>
            </a:pPr>
            <a:r>
              <a:rPr sz="1400">
                <a:solidFill>
                  <a:srgbClr val="C6A36B"/>
                </a:solidFill>
              </a:rPr>
              <a:t>◆  </a:t>
            </a:r>
            <a:r>
              <a:rPr sz="2000" b="0">
                <a:solidFill>
                  <a:srgbClr val="26313C"/>
                </a:solidFill>
                <a:latin typeface="Calibri"/>
              </a:rPr>
              <a:t>Item </a:t>
            </a:r>
            <a:r>
              <a:rPr sz="2000" b="1">
                <a:solidFill>
                  <a:srgbClr val="26313C"/>
                </a:solidFill>
                <a:latin typeface="Calibri"/>
              </a:rPr>
              <a:t>+2</a:t>
            </a:r>
            <a:r>
              <a:rPr sz="2000" b="0">
                <a:solidFill>
                  <a:srgbClr val="26313C"/>
                </a:solidFill>
                <a:latin typeface="Calibri"/>
              </a:rPr>
              <a:t> · spoken match </a:t>
            </a:r>
            <a:r>
              <a:rPr sz="2000" b="1">
                <a:solidFill>
                  <a:srgbClr val="26313C"/>
                </a:solidFill>
                <a:latin typeface="Calibri"/>
              </a:rPr>
              <a:t>+1</a:t>
            </a:r>
            <a:r>
              <a:rPr sz="2000" b="0">
                <a:solidFill>
                  <a:srgbClr val="26313C"/>
                </a:solidFill>
                <a:latin typeface="Calibri"/>
              </a:rPr>
              <a:t> · over budget </a:t>
            </a:r>
            <a:r>
              <a:rPr sz="2000" b="1">
                <a:solidFill>
                  <a:srgbClr val="26313C"/>
                </a:solidFill>
                <a:latin typeface="Calibri"/>
              </a:rPr>
              <a:t>−2</a:t>
            </a:r>
          </a:p>
          <a:p>
            <a:pPr>
              <a:spcAft>
                <a:spcPts val="800"/>
              </a:spcAft>
            </a:pPr>
            <a:r>
              <a:rPr sz="1400">
                <a:solidFill>
                  <a:srgbClr val="C6A36B"/>
                </a:solidFill>
              </a:rPr>
              <a:t>◆  </a:t>
            </a:r>
            <a:r>
              <a:rPr sz="2000" b="0">
                <a:solidFill>
                  <a:srgbClr val="26313C"/>
                </a:solidFill>
                <a:latin typeface="Calibri"/>
              </a:rPr>
              <a:t>Duplicate = no points · Tie: lower spend, then time</a:t>
            </a:r>
          </a:p>
        </p:txBody>
      </p:sp>
      <p:sp>
        <p:nvSpPr>
          <p:cNvPr id="9" name="Rectangle 8"/>
          <p:cNvSpPr/>
          <p:nvPr/>
        </p:nvSpPr>
        <p:spPr>
          <a:xfrm>
            <a:off x="6254496" y="1682495"/>
            <a:ext cx="5413248" cy="34244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8-replay-souq.png"/>
          <p:cNvPicPr>
            <a:picLocks noChangeAspect="1"/>
          </p:cNvPicPr>
          <p:nvPr/>
        </p:nvPicPr>
        <p:blipFill>
          <a:blip r:embed="rId3"/>
          <a:stretch>
            <a:fillRect/>
          </a:stretch>
        </p:blipFill>
        <p:spPr>
          <a:xfrm>
            <a:off x="6309360" y="1737360"/>
            <a:ext cx="5303520" cy="3314700"/>
          </a:xfrm>
          <a:prstGeom prst="rect">
            <a:avLst/>
          </a:prstGeom>
        </p:spPr>
      </p:pic>
      <p:sp>
        <p:nvSpPr>
          <p:cNvPr id="11" name="TextBox 10"/>
          <p:cNvSpPr txBox="1"/>
          <p:nvPr/>
        </p:nvSpPr>
        <p:spPr>
          <a:xfrm>
            <a:off x="6309360" y="5143500"/>
            <a:ext cx="5303520" cy="274320"/>
          </a:xfrm>
          <a:prstGeom prst="rect">
            <a:avLst/>
          </a:prstGeom>
          <a:noFill/>
        </p:spPr>
        <p:txBody>
          <a:bodyPr wrap="square" anchor="t" lIns="45720" rIns="45720">
            <a:spAutoFit/>
          </a:bodyPr>
          <a:lstStyle/>
          <a:p>
            <a:pPr algn="l"/>
            <a:r>
              <a:rPr sz="1100" b="0">
                <a:solidFill>
                  <a:srgbClr val="26313C"/>
                </a:solidFill>
                <a:latin typeface="Calibri"/>
              </a:rPr>
              <a:t>Verified basket and transcript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VISION + SPEECH</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Souq Signal: multimodal AI</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18</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2697480" cy="219456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2331720" cy="457200"/>
          </a:xfrm>
          <a:prstGeom prst="rect">
            <a:avLst/>
          </a:prstGeom>
          <a:noFill/>
        </p:spPr>
        <p:txBody>
          <a:bodyPr wrap="square" anchor="t" lIns="45720" rIns="45720">
            <a:spAutoFit/>
          </a:bodyPr>
          <a:lstStyle/>
          <a:p>
            <a:pPr algn="l"/>
            <a:r>
              <a:rPr sz="2000" b="1">
                <a:solidFill>
                  <a:srgbClr val="FFFFFF"/>
                </a:solidFill>
                <a:latin typeface="Cambria"/>
              </a:rPr>
              <a:t>See</a:t>
            </a:r>
          </a:p>
        </p:txBody>
      </p:sp>
      <p:sp>
        <p:nvSpPr>
          <p:cNvPr id="10" name="TextBox 9"/>
          <p:cNvSpPr txBox="1"/>
          <p:nvPr/>
        </p:nvSpPr>
        <p:spPr>
          <a:xfrm>
            <a:off x="731520" y="2377439"/>
            <a:ext cx="2331720" cy="1463039"/>
          </a:xfrm>
          <a:prstGeom prst="rect">
            <a:avLst/>
          </a:prstGeom>
          <a:noFill/>
        </p:spPr>
        <p:txBody>
          <a:bodyPr wrap="square" anchor="t" lIns="45720" rIns="45720">
            <a:spAutoFit/>
          </a:bodyPr>
          <a:lstStyle/>
          <a:p>
            <a:pPr algn="l"/>
            <a:r>
              <a:rPr sz="1500" b="0">
                <a:solidFill>
                  <a:srgbClr val="FFFFFF"/>
                </a:solidFill>
                <a:latin typeface="Calibri"/>
              </a:rPr>
              <a:t>Card markers decoded per frame → presentation intervals</a:t>
            </a:r>
          </a:p>
        </p:txBody>
      </p:sp>
      <p:sp>
        <p:nvSpPr>
          <p:cNvPr id="11" name="Rounded Rectangle 10"/>
          <p:cNvSpPr/>
          <p:nvPr/>
        </p:nvSpPr>
        <p:spPr>
          <a:xfrm>
            <a:off x="3383280" y="1737360"/>
            <a:ext cx="2697480" cy="2194560"/>
          </a:xfrm>
          <a:prstGeom prst="roundRect">
            <a:avLst>
              <a:gd name="adj" fmla="val 6000"/>
            </a:avLst>
          </a:prstGeom>
          <a:solidFill>
            <a:srgbClr val="167E80"/>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874519"/>
            <a:ext cx="2331720" cy="457200"/>
          </a:xfrm>
          <a:prstGeom prst="rect">
            <a:avLst/>
          </a:prstGeom>
          <a:noFill/>
        </p:spPr>
        <p:txBody>
          <a:bodyPr wrap="square" anchor="t" lIns="45720" rIns="45720">
            <a:spAutoFit/>
          </a:bodyPr>
          <a:lstStyle/>
          <a:p>
            <a:pPr algn="l"/>
            <a:r>
              <a:rPr sz="2000" b="1">
                <a:solidFill>
                  <a:srgbClr val="FFFFFF"/>
                </a:solidFill>
                <a:latin typeface="Cambria"/>
              </a:rPr>
              <a:t>Hear</a:t>
            </a:r>
          </a:p>
        </p:txBody>
      </p:sp>
      <p:sp>
        <p:nvSpPr>
          <p:cNvPr id="13" name="TextBox 12"/>
          <p:cNvSpPr txBox="1"/>
          <p:nvPr/>
        </p:nvSpPr>
        <p:spPr>
          <a:xfrm>
            <a:off x="3566160" y="2377439"/>
            <a:ext cx="2331720" cy="1463039"/>
          </a:xfrm>
          <a:prstGeom prst="rect">
            <a:avLst/>
          </a:prstGeom>
          <a:noFill/>
        </p:spPr>
        <p:txBody>
          <a:bodyPr wrap="square" anchor="t" lIns="45720" rIns="45720">
            <a:spAutoFit/>
          </a:bodyPr>
          <a:lstStyle/>
          <a:p>
            <a:pPr algn="l"/>
            <a:r>
              <a:rPr sz="1500" b="0">
                <a:solidFill>
                  <a:srgbClr val="FFFFFF"/>
                </a:solidFill>
                <a:latin typeface="Calibri"/>
              </a:rPr>
              <a:t>Arabic/English speech → timed transcript</a:t>
            </a:r>
          </a:p>
        </p:txBody>
      </p:sp>
      <p:sp>
        <p:nvSpPr>
          <p:cNvPr id="14" name="Rounded Rectangle 13"/>
          <p:cNvSpPr/>
          <p:nvPr/>
        </p:nvSpPr>
        <p:spPr>
          <a:xfrm>
            <a:off x="6217920" y="1737360"/>
            <a:ext cx="2697480" cy="2194560"/>
          </a:xfrm>
          <a:prstGeom prst="roundRect">
            <a:avLst>
              <a:gd name="adj" fmla="val 6000"/>
            </a:avLst>
          </a:prstGeom>
          <a:solidFill>
            <a:srgbClr val="C6A36B"/>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74519"/>
            <a:ext cx="2331720" cy="457200"/>
          </a:xfrm>
          <a:prstGeom prst="rect">
            <a:avLst/>
          </a:prstGeom>
          <a:noFill/>
        </p:spPr>
        <p:txBody>
          <a:bodyPr wrap="square" anchor="t" lIns="45720" rIns="45720">
            <a:spAutoFit/>
          </a:bodyPr>
          <a:lstStyle/>
          <a:p>
            <a:pPr algn="l"/>
            <a:r>
              <a:rPr sz="2000" b="1">
                <a:solidFill>
                  <a:srgbClr val="12243A"/>
                </a:solidFill>
                <a:latin typeface="Cambria"/>
              </a:rPr>
              <a:t>Agree?</a:t>
            </a:r>
          </a:p>
        </p:txBody>
      </p:sp>
      <p:sp>
        <p:nvSpPr>
          <p:cNvPr id="16" name="TextBox 15"/>
          <p:cNvSpPr txBox="1"/>
          <p:nvPr/>
        </p:nvSpPr>
        <p:spPr>
          <a:xfrm>
            <a:off x="6400800" y="2377439"/>
            <a:ext cx="2331720" cy="1463039"/>
          </a:xfrm>
          <a:prstGeom prst="rect">
            <a:avLst/>
          </a:prstGeom>
          <a:noFill/>
        </p:spPr>
        <p:txBody>
          <a:bodyPr wrap="square" anchor="t" lIns="45720" rIns="45720">
            <a:spAutoFit/>
          </a:bodyPr>
          <a:lstStyle/>
          <a:p>
            <a:pPr algn="l"/>
            <a:r>
              <a:rPr sz="1500" b="0">
                <a:solidFill>
                  <a:srgbClr val="12243A"/>
                </a:solidFill>
                <a:latin typeface="Calibri"/>
              </a:rPr>
              <a:t>Said ≈ shown within ±5 s, else host review</a:t>
            </a:r>
          </a:p>
        </p:txBody>
      </p:sp>
      <p:sp>
        <p:nvSpPr>
          <p:cNvPr id="17" name="Rounded Rectangle 16"/>
          <p:cNvSpPr/>
          <p:nvPr/>
        </p:nvSpPr>
        <p:spPr>
          <a:xfrm>
            <a:off x="9052560" y="1737360"/>
            <a:ext cx="2697480" cy="2194560"/>
          </a:xfrm>
          <a:prstGeom prst="roundRect">
            <a:avLst>
              <a:gd name="adj" fmla="val 6000"/>
            </a:avLst>
          </a:prstGeom>
          <a:solidFill>
            <a:srgbClr val="B92D39"/>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1874519"/>
            <a:ext cx="2331720" cy="457200"/>
          </a:xfrm>
          <a:prstGeom prst="rect">
            <a:avLst/>
          </a:prstGeom>
          <a:noFill/>
        </p:spPr>
        <p:txBody>
          <a:bodyPr wrap="square" anchor="t" lIns="45720" rIns="45720">
            <a:spAutoFit/>
          </a:bodyPr>
          <a:lstStyle/>
          <a:p>
            <a:pPr algn="l"/>
            <a:r>
              <a:rPr sz="2000" b="1">
                <a:solidFill>
                  <a:srgbClr val="FFFFFF"/>
                </a:solidFill>
                <a:latin typeface="Cambria"/>
              </a:rPr>
              <a:t>Score</a:t>
            </a:r>
          </a:p>
        </p:txBody>
      </p:sp>
      <p:sp>
        <p:nvSpPr>
          <p:cNvPr id="19" name="TextBox 18"/>
          <p:cNvSpPr txBox="1"/>
          <p:nvPr/>
        </p:nvSpPr>
        <p:spPr>
          <a:xfrm>
            <a:off x="9235440" y="2377439"/>
            <a:ext cx="2331720" cy="1463039"/>
          </a:xfrm>
          <a:prstGeom prst="rect">
            <a:avLst/>
          </a:prstGeom>
          <a:noFill/>
        </p:spPr>
        <p:txBody>
          <a:bodyPr wrap="square" anchor="t" lIns="45720" rIns="45720">
            <a:spAutoFit/>
          </a:bodyPr>
          <a:lstStyle/>
          <a:p>
            <a:pPr algn="l"/>
            <a:r>
              <a:rPr sz="1500" b="0">
                <a:solidFill>
                  <a:srgbClr val="FFFFFF"/>
                </a:solidFill>
                <a:latin typeface="Calibri"/>
              </a:rPr>
              <a:t>Deterministic rules + budget maths</a:t>
            </a:r>
          </a:p>
        </p:txBody>
      </p:sp>
      <p:sp>
        <p:nvSpPr>
          <p:cNvPr id="20" name="TextBox 19"/>
          <p:cNvSpPr txBox="1"/>
          <p:nvPr/>
        </p:nvSpPr>
        <p:spPr>
          <a:xfrm>
            <a:off x="548640" y="4297680"/>
            <a:ext cx="10972800" cy="1828800"/>
          </a:xfrm>
          <a:prstGeom prst="rect">
            <a:avLst/>
          </a:prstGeom>
          <a:noFill/>
        </p:spPr>
        <p:txBody>
          <a:bodyPr wrap="square">
            <a:spAutoFit/>
          </a:bodyPr>
          <a:lstStyle/>
          <a:p>
            <a:pPr>
              <a:spcAft>
                <a:spcPts val="800"/>
              </a:spcAft>
            </a:pPr>
            <a:r>
              <a:rPr sz="1300">
                <a:solidFill>
                  <a:srgbClr val="C6A36B"/>
                </a:solidFill>
              </a:rPr>
              <a:t>◆  </a:t>
            </a:r>
            <a:r>
              <a:rPr sz="1900" b="0">
                <a:solidFill>
                  <a:srgbClr val="26313C"/>
                </a:solidFill>
                <a:latin typeface="Calibri"/>
              </a:rPr>
              <a:t>Transcription model </a:t>
            </a:r>
            <a:r>
              <a:rPr sz="1900" b="1">
                <a:solidFill>
                  <a:srgbClr val="26313C"/>
                </a:solidFill>
                <a:latin typeface="Calibri"/>
              </a:rPr>
              <a:t>never decides points</a:t>
            </a:r>
          </a:p>
          <a:p>
            <a:pPr>
              <a:spcAft>
                <a:spcPts val="800"/>
              </a:spcAft>
            </a:pPr>
            <a:r>
              <a:rPr sz="1300">
                <a:solidFill>
                  <a:srgbClr val="C6A36B"/>
                </a:solidFill>
              </a:rPr>
              <a:t>◆  </a:t>
            </a:r>
            <a:r>
              <a:rPr sz="1900" b="0">
                <a:solidFill>
                  <a:srgbClr val="26313C"/>
                </a:solidFill>
                <a:latin typeface="Calibri"/>
              </a:rPr>
              <a:t>Silent audio is rejected by an energy gate (no hallucinated speech)</a:t>
            </a:r>
          </a:p>
          <a:p>
            <a:pPr>
              <a:spcAft>
                <a:spcPts val="800"/>
              </a:spcAft>
            </a:pPr>
            <a:r>
              <a:rPr sz="1300">
                <a:solidFill>
                  <a:srgbClr val="C6A36B"/>
                </a:solidFill>
              </a:rPr>
              <a:t>◆  </a:t>
            </a:r>
            <a:r>
              <a:rPr sz="1900" b="0">
                <a:solidFill>
                  <a:srgbClr val="26313C"/>
                </a:solidFill>
                <a:latin typeface="Calibri"/>
              </a:rPr>
              <a:t>No transcript → spoken-match points stay </a:t>
            </a:r>
            <a:r>
              <a:rPr sz="1900" b="1">
                <a:solidFill>
                  <a:srgbClr val="26313C"/>
                </a:solidFill>
                <a:latin typeface="Calibri"/>
              </a:rPr>
              <a:t>NEEDS_REVIEW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BASKET</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Souq Signal: transaction verification</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19</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ectangle 7"/>
          <p:cNvSpPr/>
          <p:nvPr/>
        </p:nvSpPr>
        <p:spPr>
          <a:xfrm>
            <a:off x="493776" y="1591056"/>
            <a:ext cx="6144768" cy="38816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8-replay-souq.png"/>
          <p:cNvPicPr>
            <a:picLocks noChangeAspect="1"/>
          </p:cNvPicPr>
          <p:nvPr/>
        </p:nvPicPr>
        <p:blipFill>
          <a:blip r:embed="rId3"/>
          <a:stretch>
            <a:fillRect/>
          </a:stretch>
        </p:blipFill>
        <p:spPr>
          <a:xfrm>
            <a:off x="548640" y="1645920"/>
            <a:ext cx="6035040" cy="3771900"/>
          </a:xfrm>
          <a:prstGeom prst="rect">
            <a:avLst/>
          </a:prstGeom>
        </p:spPr>
      </p:pic>
      <p:sp>
        <p:nvSpPr>
          <p:cNvPr id="10" name="TextBox 9"/>
          <p:cNvSpPr txBox="1"/>
          <p:nvPr/>
        </p:nvSpPr>
        <p:spPr>
          <a:xfrm>
            <a:off x="6949440" y="1737360"/>
            <a:ext cx="4754880" cy="4389120"/>
          </a:xfrm>
          <a:prstGeom prst="rect">
            <a:avLst/>
          </a:prstGeom>
          <a:noFill/>
        </p:spPr>
        <p:txBody>
          <a:bodyPr wrap="square">
            <a:spAutoFit/>
          </a:bodyPr>
          <a:lstStyle/>
          <a:p>
            <a:pPr>
              <a:spcAft>
                <a:spcPts val="800"/>
              </a:spcAft>
            </a:pPr>
            <a:r>
              <a:rPr sz="1300">
                <a:solidFill>
                  <a:srgbClr val="C6A36B"/>
                </a:solidFill>
              </a:rPr>
              <a:t>◆  </a:t>
            </a:r>
            <a:r>
              <a:rPr sz="1900" b="0">
                <a:solidFill>
                  <a:srgbClr val="26313C"/>
                </a:solidFill>
                <a:latin typeface="Calibri"/>
              </a:rPr>
              <a:t>Distinct card prices are summed</a:t>
            </a:r>
          </a:p>
          <a:p>
            <a:pPr>
              <a:spcAft>
                <a:spcPts val="800"/>
              </a:spcAft>
            </a:pPr>
            <a:r>
              <a:rPr sz="1300">
                <a:solidFill>
                  <a:srgbClr val="C6A36B"/>
                </a:solidFill>
              </a:rPr>
              <a:t>◆  </a:t>
            </a:r>
            <a:r>
              <a:rPr sz="1900" b="0">
                <a:solidFill>
                  <a:srgbClr val="26313C"/>
                </a:solidFill>
                <a:latin typeface="Calibri"/>
              </a:rPr>
              <a:t>Over budget → </a:t>
            </a:r>
            <a:r>
              <a:rPr sz="1900" b="1">
                <a:solidFill>
                  <a:srgbClr val="26313C"/>
                </a:solidFill>
                <a:latin typeface="Calibri"/>
              </a:rPr>
              <a:t>−2</a:t>
            </a:r>
            <a:r>
              <a:rPr sz="1900" b="0">
                <a:solidFill>
                  <a:srgbClr val="26313C"/>
                </a:solidFill>
                <a:latin typeface="Calibri"/>
              </a:rPr>
              <a:t> (once)</a:t>
            </a:r>
          </a:p>
          <a:p>
            <a:pPr>
              <a:spcAft>
                <a:spcPts val="800"/>
              </a:spcAft>
            </a:pPr>
            <a:r>
              <a:rPr sz="1300">
                <a:solidFill>
                  <a:srgbClr val="C6A36B"/>
                </a:solidFill>
              </a:rPr>
              <a:t>◆  </a:t>
            </a:r>
            <a:r>
              <a:rPr sz="1900" b="0">
                <a:solidFill>
                  <a:srgbClr val="26313C"/>
                </a:solidFill>
                <a:latin typeface="Calibri"/>
              </a:rPr>
              <a:t>Duplicate cards earn </a:t>
            </a:r>
            <a:r>
              <a:rPr sz="1900" b="1">
                <a:solidFill>
                  <a:srgbClr val="26313C"/>
                </a:solidFill>
                <a:latin typeface="Calibri"/>
              </a:rPr>
              <a:t>0</a:t>
            </a:r>
            <a:r>
              <a:rPr sz="1900" b="0">
                <a:solidFill>
                  <a:srgbClr val="26313C"/>
                </a:solidFill>
                <a:latin typeface="Calibri"/>
              </a:rPr>
              <a:t> and are not paid twice</a:t>
            </a:r>
          </a:p>
          <a:p>
            <a:pPr>
              <a:spcAft>
                <a:spcPts val="800"/>
              </a:spcAft>
            </a:pPr>
            <a:r>
              <a:rPr sz="1300">
                <a:solidFill>
                  <a:srgbClr val="C6A36B"/>
                </a:solidFill>
              </a:rPr>
              <a:t>◆  </a:t>
            </a:r>
            <a:r>
              <a:rPr sz="1900" b="0">
                <a:solidFill>
                  <a:srgbClr val="26313C"/>
                </a:solidFill>
                <a:latin typeface="Calibri"/>
              </a:rPr>
              <a:t>Audio ≠ video → </a:t>
            </a:r>
            <a:r>
              <a:rPr sz="1900" b="1">
                <a:solidFill>
                  <a:srgbClr val="26313C"/>
                </a:solidFill>
                <a:latin typeface="Calibri"/>
              </a:rPr>
              <a:t>host review</a:t>
            </a:r>
          </a:p>
          <a:p>
            <a:pPr>
              <a:spcAft>
                <a:spcPts val="800"/>
              </a:spcAft>
            </a:pPr>
            <a:r>
              <a:rPr sz="1300">
                <a:solidFill>
                  <a:srgbClr val="C6A36B"/>
                </a:solidFill>
              </a:rPr>
              <a:t>◆  </a:t>
            </a:r>
            <a:r>
              <a:rPr sz="1900" b="0">
                <a:solidFill>
                  <a:srgbClr val="26313C"/>
                </a:solidFill>
                <a:latin typeface="Calibri"/>
              </a:rPr>
              <a:t>Test: correct basket = 9 pts, spend AED 55 of 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LIVE ARENA</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Family host console</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20</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ectangle 7"/>
          <p:cNvSpPr/>
          <p:nvPr/>
        </p:nvSpPr>
        <p:spPr>
          <a:xfrm>
            <a:off x="493776" y="1591056"/>
            <a:ext cx="6510528" cy="41102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5-arena.png"/>
          <p:cNvPicPr>
            <a:picLocks noChangeAspect="1"/>
          </p:cNvPicPr>
          <p:nvPr/>
        </p:nvPicPr>
        <p:blipFill>
          <a:blip r:embed="rId3"/>
          <a:stretch>
            <a:fillRect/>
          </a:stretch>
        </p:blipFill>
        <p:spPr>
          <a:xfrm>
            <a:off x="548640" y="1645920"/>
            <a:ext cx="6400800" cy="4000500"/>
          </a:xfrm>
          <a:prstGeom prst="rect">
            <a:avLst/>
          </a:prstGeom>
        </p:spPr>
      </p:pic>
      <p:sp>
        <p:nvSpPr>
          <p:cNvPr id="10" name="TextBox 9"/>
          <p:cNvSpPr txBox="1"/>
          <p:nvPr/>
        </p:nvSpPr>
        <p:spPr>
          <a:xfrm>
            <a:off x="7315200" y="1737360"/>
            <a:ext cx="4480560" cy="4389120"/>
          </a:xfrm>
          <a:prstGeom prst="rect">
            <a:avLst/>
          </a:prstGeom>
          <a:noFill/>
        </p:spPr>
        <p:txBody>
          <a:bodyPr wrap="square">
            <a:spAutoFit/>
          </a:bodyPr>
          <a:lstStyle/>
          <a:p>
            <a:pPr>
              <a:spcAft>
                <a:spcPts val="800"/>
              </a:spcAft>
            </a:pPr>
            <a:r>
              <a:rPr sz="1300">
                <a:solidFill>
                  <a:srgbClr val="C6A36B"/>
                </a:solidFill>
              </a:rPr>
              <a:t>◆  </a:t>
            </a:r>
            <a:r>
              <a:rPr sz="1900" b="0">
                <a:solidFill>
                  <a:srgbClr val="26313C"/>
                </a:solidFill>
                <a:latin typeface="Calibri"/>
              </a:rPr>
              <a:t>Camera + mic recording or </a:t>
            </a:r>
            <a:r>
              <a:rPr sz="1900" b="1">
                <a:solidFill>
                  <a:srgbClr val="26313C"/>
                </a:solidFill>
                <a:latin typeface="Calibri"/>
              </a:rPr>
              <a:t>upload</a:t>
            </a:r>
          </a:p>
          <a:p>
            <a:pPr>
              <a:spcAft>
                <a:spcPts val="800"/>
              </a:spcAft>
            </a:pPr>
            <a:r>
              <a:rPr sz="1300">
                <a:solidFill>
                  <a:srgbClr val="C6A36B"/>
                </a:solidFill>
              </a:rPr>
              <a:t>◆  </a:t>
            </a:r>
            <a:r>
              <a:rPr sz="1900" b="0">
                <a:solidFill>
                  <a:srgbClr val="26313C"/>
                </a:solidFill>
                <a:latin typeface="Calibri"/>
              </a:rPr>
              <a:t>Round </a:t>
            </a:r>
            <a:r>
              <a:rPr sz="1900" b="1">
                <a:solidFill>
                  <a:srgbClr val="26313C"/>
                </a:solidFill>
                <a:latin typeface="Calibri"/>
              </a:rPr>
              <a:t>timer</a:t>
            </a:r>
            <a:r>
              <a:rPr sz="1900" b="0">
                <a:solidFill>
                  <a:srgbClr val="26313C"/>
                </a:solidFill>
                <a:latin typeface="Calibri"/>
              </a:rPr>
              <a:t>, turn order, </a:t>
            </a:r>
            <a:r>
              <a:rPr sz="1900" b="1">
                <a:solidFill>
                  <a:srgbClr val="26313C"/>
                </a:solidFill>
                <a:latin typeface="Calibri"/>
              </a:rPr>
              <a:t>skip/next</a:t>
            </a:r>
          </a:p>
          <a:p>
            <a:pPr>
              <a:spcAft>
                <a:spcPts val="800"/>
              </a:spcAft>
            </a:pPr>
            <a:r>
              <a:rPr sz="1300">
                <a:solidFill>
                  <a:srgbClr val="C6A36B"/>
                </a:solidFill>
              </a:rPr>
              <a:t>◆  </a:t>
            </a:r>
            <a:r>
              <a:rPr sz="1900" b="0">
                <a:solidFill>
                  <a:srgbClr val="26313C"/>
                </a:solidFill>
                <a:latin typeface="Calibri"/>
              </a:rPr>
              <a:t>Import a sealed </a:t>
            </a:r>
            <a:r>
              <a:rPr sz="1900" b="1">
                <a:solidFill>
                  <a:srgbClr val="26313C"/>
                </a:solidFill>
                <a:latin typeface="Calibri"/>
              </a:rPr>
              <a:t>AI report</a:t>
            </a:r>
          </a:p>
          <a:p>
            <a:pPr>
              <a:spcAft>
                <a:spcPts val="800"/>
              </a:spcAft>
            </a:pPr>
            <a:r>
              <a:rPr sz="1300">
                <a:solidFill>
                  <a:srgbClr val="C6A36B"/>
                </a:solidFill>
              </a:rPr>
              <a:t>◆  </a:t>
            </a:r>
            <a:r>
              <a:rPr sz="1900" b="0">
                <a:solidFill>
                  <a:srgbClr val="26313C"/>
                </a:solidFill>
                <a:latin typeface="Calibri"/>
              </a:rPr>
              <a:t>Verified </a:t>
            </a:r>
            <a:r>
              <a:rPr sz="1900" b="1">
                <a:solidFill>
                  <a:srgbClr val="26313C"/>
                </a:solidFill>
                <a:latin typeface="Calibri"/>
              </a:rPr>
              <a:t>scoreboard</a:t>
            </a:r>
          </a:p>
          <a:p>
            <a:pPr>
              <a:spcAft>
                <a:spcPts val="800"/>
              </a:spcAft>
            </a:pPr>
            <a:r>
              <a:rPr sz="1300">
                <a:solidFill>
                  <a:srgbClr val="C6A36B"/>
                </a:solidFill>
              </a:rPr>
              <a:t>◆  </a:t>
            </a:r>
            <a:r>
              <a:rPr sz="1900" b="0">
                <a:solidFill>
                  <a:srgbClr val="26313C"/>
                </a:solidFill>
                <a:latin typeface="Calibri"/>
              </a:rPr>
              <a:t>Host penalty with audit log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EXPLAIN EVERY CALL</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AI Referee Replay</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21</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ectangle 7"/>
          <p:cNvSpPr/>
          <p:nvPr/>
        </p:nvSpPr>
        <p:spPr>
          <a:xfrm>
            <a:off x="493776" y="1591056"/>
            <a:ext cx="6876288" cy="433882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9-replay-review.png"/>
          <p:cNvPicPr>
            <a:picLocks noChangeAspect="1"/>
          </p:cNvPicPr>
          <p:nvPr/>
        </p:nvPicPr>
        <p:blipFill>
          <a:blip r:embed="rId3"/>
          <a:stretch>
            <a:fillRect/>
          </a:stretch>
        </p:blipFill>
        <p:spPr>
          <a:xfrm>
            <a:off x="548640" y="1645920"/>
            <a:ext cx="6766560" cy="4229100"/>
          </a:xfrm>
          <a:prstGeom prst="rect">
            <a:avLst/>
          </a:prstGeom>
        </p:spPr>
      </p:pic>
      <p:sp>
        <p:nvSpPr>
          <p:cNvPr id="10" name="TextBox 9"/>
          <p:cNvSpPr txBox="1"/>
          <p:nvPr/>
        </p:nvSpPr>
        <p:spPr>
          <a:xfrm>
            <a:off x="548640" y="5966459"/>
            <a:ext cx="6766560" cy="274320"/>
          </a:xfrm>
          <a:prstGeom prst="rect">
            <a:avLst/>
          </a:prstGeom>
          <a:noFill/>
        </p:spPr>
        <p:txBody>
          <a:bodyPr wrap="square" anchor="t" lIns="45720" rIns="45720">
            <a:spAutoFit/>
          </a:bodyPr>
          <a:lstStyle/>
          <a:p>
            <a:pPr algn="l"/>
            <a:r>
              <a:rPr sz="1100" b="0">
                <a:solidFill>
                  <a:srgbClr val="26313C"/>
                </a:solidFill>
                <a:latin typeface="Calibri"/>
              </a:rPr>
              <a:t>A call that needs review: ball lost near the goal</a:t>
            </a:r>
          </a:p>
        </p:txBody>
      </p:sp>
      <p:sp>
        <p:nvSpPr>
          <p:cNvPr id="11" name="TextBox 10"/>
          <p:cNvSpPr txBox="1"/>
          <p:nvPr/>
        </p:nvSpPr>
        <p:spPr>
          <a:xfrm>
            <a:off x="7680960" y="1737360"/>
            <a:ext cx="4114800" cy="4389120"/>
          </a:xfrm>
          <a:prstGeom prst="rect">
            <a:avLst/>
          </a:prstGeom>
          <a:noFill/>
        </p:spPr>
        <p:txBody>
          <a:bodyPr wrap="square">
            <a:spAutoFit/>
          </a:bodyPr>
          <a:lstStyle/>
          <a:p>
            <a:pPr>
              <a:spcAft>
                <a:spcPts val="800"/>
              </a:spcAft>
            </a:pPr>
            <a:r>
              <a:rPr sz="1200">
                <a:solidFill>
                  <a:srgbClr val="C6A36B"/>
                </a:solidFill>
              </a:rPr>
              <a:t>◆  </a:t>
            </a:r>
            <a:r>
              <a:rPr sz="1800" b="0">
                <a:solidFill>
                  <a:srgbClr val="26313C"/>
                </a:solidFill>
                <a:latin typeface="Calibri"/>
              </a:rPr>
              <a:t>Event timeline on the video</a:t>
            </a:r>
          </a:p>
          <a:p>
            <a:pPr>
              <a:spcAft>
                <a:spcPts val="800"/>
              </a:spcAft>
            </a:pPr>
            <a:r>
              <a:rPr sz="1200">
                <a:solidFill>
                  <a:srgbClr val="C6A36B"/>
                </a:solidFill>
              </a:rPr>
              <a:t>◆  </a:t>
            </a:r>
            <a:r>
              <a:rPr sz="1800" b="1">
                <a:solidFill>
                  <a:srgbClr val="26313C"/>
                </a:solidFill>
                <a:latin typeface="Calibri"/>
              </a:rPr>
              <a:t>Why the AI decided this</a:t>
            </a:r>
          </a:p>
          <a:p>
            <a:pPr>
              <a:spcAft>
                <a:spcPts val="800"/>
              </a:spcAft>
            </a:pPr>
            <a:r>
              <a:rPr sz="1200">
                <a:solidFill>
                  <a:srgbClr val="C6A36B"/>
                </a:solidFill>
              </a:rPr>
              <a:t>◆  </a:t>
            </a:r>
            <a:r>
              <a:rPr sz="1800" b="0">
                <a:solidFill>
                  <a:srgbClr val="26313C"/>
                </a:solidFill>
                <a:latin typeface="Calibri"/>
              </a:rPr>
              <a:t>Evidence frames + audio transcript</a:t>
            </a:r>
          </a:p>
          <a:p>
            <a:pPr>
              <a:spcAft>
                <a:spcPts val="800"/>
              </a:spcAft>
            </a:pPr>
            <a:r>
              <a:rPr sz="1200">
                <a:solidFill>
                  <a:srgbClr val="C6A36B"/>
                </a:solidFill>
              </a:rPr>
              <a:t>◆  </a:t>
            </a:r>
            <a:r>
              <a:rPr sz="1800" b="1">
                <a:solidFill>
                  <a:srgbClr val="26313C"/>
                </a:solidFill>
                <a:latin typeface="Calibri"/>
              </a:rPr>
              <a:t>Accept / Reject</a:t>
            </a:r>
            <a:r>
              <a:rPr sz="1800" b="0">
                <a:solidFill>
                  <a:srgbClr val="26313C"/>
                </a:solidFill>
                <a:latin typeface="Calibri"/>
              </a:rPr>
              <a:t> → score recomputed</a:t>
            </a:r>
          </a:p>
          <a:p>
            <a:pPr>
              <a:spcAft>
                <a:spcPts val="800"/>
              </a:spcAft>
            </a:pPr>
            <a:r>
              <a:rPr sz="1200">
                <a:solidFill>
                  <a:srgbClr val="C6A36B"/>
                </a:solidFill>
              </a:rPr>
              <a:t>◆  </a:t>
            </a:r>
            <a:r>
              <a:rPr sz="1800" b="0">
                <a:solidFill>
                  <a:srgbClr val="26313C"/>
                </a:solidFill>
                <a:latin typeface="Calibri"/>
              </a:rPr>
              <a:t>Audit trail entry for every decision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SYSTEM</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Technical architecture</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22</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pic>
        <p:nvPicPr>
          <p:cNvPr id="8" name="Picture 7" descr="architecture.png"/>
          <p:cNvPicPr>
            <a:picLocks noChangeAspect="1"/>
          </p:cNvPicPr>
          <p:nvPr/>
        </p:nvPicPr>
        <p:blipFill>
          <a:blip r:embed="rId3"/>
          <a:stretch>
            <a:fillRect/>
          </a:stretch>
        </p:blipFill>
        <p:spPr>
          <a:xfrm>
            <a:off x="548640" y="1463040"/>
            <a:ext cx="11064240" cy="4204411"/>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METHODS</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AI models and algorithms</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23</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645920"/>
            <a:ext cx="11064240" cy="73152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64792"/>
            <a:ext cx="2377440" cy="457200"/>
          </a:xfrm>
          <a:prstGeom prst="rect">
            <a:avLst/>
          </a:prstGeom>
          <a:noFill/>
        </p:spPr>
        <p:txBody>
          <a:bodyPr wrap="square" anchor="t" lIns="45720" rIns="45720">
            <a:spAutoFit/>
          </a:bodyPr>
          <a:lstStyle/>
          <a:p>
            <a:pPr algn="l"/>
            <a:r>
              <a:rPr sz="1900" b="1">
                <a:solidFill>
                  <a:srgbClr val="167E80"/>
                </a:solidFill>
                <a:latin typeface="Calibri"/>
              </a:rPr>
              <a:t>Football</a:t>
            </a:r>
          </a:p>
        </p:txBody>
      </p:sp>
      <p:sp>
        <p:nvSpPr>
          <p:cNvPr id="10" name="TextBox 9"/>
          <p:cNvSpPr txBox="1"/>
          <p:nvPr/>
        </p:nvSpPr>
        <p:spPr>
          <a:xfrm>
            <a:off x="3108960" y="1764792"/>
            <a:ext cx="8412480" cy="548640"/>
          </a:xfrm>
          <a:prstGeom prst="rect">
            <a:avLst/>
          </a:prstGeom>
          <a:noFill/>
        </p:spPr>
        <p:txBody>
          <a:bodyPr wrap="square" anchor="t" lIns="45720" rIns="45720">
            <a:spAutoFit/>
          </a:bodyPr>
          <a:lstStyle/>
          <a:p>
            <a:pPr algn="l"/>
            <a:r>
              <a:rPr sz="1700" b="0">
                <a:solidFill>
                  <a:srgbClr val="26313C"/>
                </a:solidFill>
                <a:latin typeface="Calibri"/>
              </a:rPr>
              <a:t>HSV segmentation, contours, nearest-neighbour tracking, goal-zone logic</a:t>
            </a:r>
          </a:p>
        </p:txBody>
      </p:sp>
      <p:sp>
        <p:nvSpPr>
          <p:cNvPr id="11" name="Rounded Rectangle 10"/>
          <p:cNvSpPr/>
          <p:nvPr/>
        </p:nvSpPr>
        <p:spPr>
          <a:xfrm>
            <a:off x="548640" y="2514600"/>
            <a:ext cx="11064240" cy="73152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2"/>
            <a:ext cx="2377440" cy="457200"/>
          </a:xfrm>
          <a:prstGeom prst="rect">
            <a:avLst/>
          </a:prstGeom>
          <a:noFill/>
        </p:spPr>
        <p:txBody>
          <a:bodyPr wrap="square" anchor="t" lIns="45720" rIns="45720">
            <a:spAutoFit/>
          </a:bodyPr>
          <a:lstStyle/>
          <a:p>
            <a:pPr algn="l"/>
            <a:r>
              <a:rPr sz="1900" b="1">
                <a:solidFill>
                  <a:srgbClr val="167E80"/>
                </a:solidFill>
                <a:latin typeface="Calibri"/>
              </a:rPr>
              <a:t>Falaj Flow</a:t>
            </a:r>
          </a:p>
        </p:txBody>
      </p:sp>
      <p:sp>
        <p:nvSpPr>
          <p:cNvPr id="13" name="TextBox 12"/>
          <p:cNvSpPr txBox="1"/>
          <p:nvPr/>
        </p:nvSpPr>
        <p:spPr>
          <a:xfrm>
            <a:off x="3108960" y="2633472"/>
            <a:ext cx="8412480" cy="548640"/>
          </a:xfrm>
          <a:prstGeom prst="rect">
            <a:avLst/>
          </a:prstGeom>
          <a:noFill/>
        </p:spPr>
        <p:txBody>
          <a:bodyPr wrap="square" anchor="t" lIns="45720" rIns="45720">
            <a:spAutoFit/>
          </a:bodyPr>
          <a:lstStyle/>
          <a:p>
            <a:pPr algn="l"/>
            <a:r>
              <a:rPr sz="1700" b="0">
                <a:solidFill>
                  <a:srgbClr val="26313C"/>
                </a:solidFill>
                <a:latin typeface="Calibri"/>
              </a:rPr>
              <a:t>ArUco markers, homography, rotation estimation, BFS on tile graph</a:t>
            </a:r>
          </a:p>
        </p:txBody>
      </p:sp>
      <p:sp>
        <p:nvSpPr>
          <p:cNvPr id="14" name="Rounded Rectangle 13"/>
          <p:cNvSpPr/>
          <p:nvPr/>
        </p:nvSpPr>
        <p:spPr>
          <a:xfrm>
            <a:off x="548640" y="3383280"/>
            <a:ext cx="11064240" cy="73152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502152"/>
            <a:ext cx="2377440" cy="457200"/>
          </a:xfrm>
          <a:prstGeom prst="rect">
            <a:avLst/>
          </a:prstGeom>
          <a:noFill/>
        </p:spPr>
        <p:txBody>
          <a:bodyPr wrap="square" anchor="t" lIns="45720" rIns="45720">
            <a:spAutoFit/>
          </a:bodyPr>
          <a:lstStyle/>
          <a:p>
            <a:pPr algn="l"/>
            <a:r>
              <a:rPr sz="1900" b="1">
                <a:solidFill>
                  <a:srgbClr val="167E80"/>
                </a:solidFill>
                <a:latin typeface="Calibri"/>
              </a:rPr>
              <a:t>Souq Signal</a:t>
            </a:r>
          </a:p>
        </p:txBody>
      </p:sp>
      <p:sp>
        <p:nvSpPr>
          <p:cNvPr id="16" name="TextBox 15"/>
          <p:cNvSpPr txBox="1"/>
          <p:nvPr/>
        </p:nvSpPr>
        <p:spPr>
          <a:xfrm>
            <a:off x="3108960" y="3502152"/>
            <a:ext cx="8412480" cy="548640"/>
          </a:xfrm>
          <a:prstGeom prst="rect">
            <a:avLst/>
          </a:prstGeom>
          <a:noFill/>
        </p:spPr>
        <p:txBody>
          <a:bodyPr wrap="square" anchor="t" lIns="45720" rIns="45720">
            <a:spAutoFit/>
          </a:bodyPr>
          <a:lstStyle/>
          <a:p>
            <a:pPr algn="l"/>
            <a:r>
              <a:rPr sz="1700" b="0">
                <a:solidFill>
                  <a:srgbClr val="26313C"/>
                </a:solidFill>
                <a:latin typeface="Calibri"/>
              </a:rPr>
              <a:t>ArUco card sightings, speech transcription, alias matching, budget maths</a:t>
            </a:r>
          </a:p>
        </p:txBody>
      </p:sp>
      <p:sp>
        <p:nvSpPr>
          <p:cNvPr id="17" name="Rounded Rectangle 16"/>
          <p:cNvSpPr/>
          <p:nvPr/>
        </p:nvSpPr>
        <p:spPr>
          <a:xfrm>
            <a:off x="548640" y="4251959"/>
            <a:ext cx="11064240" cy="73152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70831"/>
            <a:ext cx="2377440" cy="457200"/>
          </a:xfrm>
          <a:prstGeom prst="rect">
            <a:avLst/>
          </a:prstGeom>
          <a:noFill/>
        </p:spPr>
        <p:txBody>
          <a:bodyPr wrap="square" anchor="t" lIns="45720" rIns="45720">
            <a:spAutoFit/>
          </a:bodyPr>
          <a:lstStyle/>
          <a:p>
            <a:pPr algn="l"/>
            <a:r>
              <a:rPr sz="1900" b="1">
                <a:solidFill>
                  <a:srgbClr val="167E80"/>
                </a:solidFill>
                <a:latin typeface="Calibri"/>
              </a:rPr>
              <a:t>Scoring</a:t>
            </a:r>
          </a:p>
        </p:txBody>
      </p:sp>
      <p:sp>
        <p:nvSpPr>
          <p:cNvPr id="19" name="TextBox 18"/>
          <p:cNvSpPr txBox="1"/>
          <p:nvPr/>
        </p:nvSpPr>
        <p:spPr>
          <a:xfrm>
            <a:off x="3108960" y="4370831"/>
            <a:ext cx="8412480" cy="548640"/>
          </a:xfrm>
          <a:prstGeom prst="rect">
            <a:avLst/>
          </a:prstGeom>
          <a:noFill/>
        </p:spPr>
        <p:txBody>
          <a:bodyPr wrap="square" anchor="t" lIns="45720" rIns="45720">
            <a:spAutoFit/>
          </a:bodyPr>
          <a:lstStyle/>
          <a:p>
            <a:pPr algn="l"/>
            <a:r>
              <a:rPr sz="1700" b="0">
                <a:solidFill>
                  <a:srgbClr val="26313C"/>
                </a:solidFill>
                <a:latin typeface="Calibri"/>
              </a:rPr>
              <a:t>Versioned deterministic rule engines (FB / FF / SS)</a:t>
            </a:r>
          </a:p>
        </p:txBody>
      </p:sp>
      <p:sp>
        <p:nvSpPr>
          <p:cNvPr id="20" name="Rounded Rectangle 19"/>
          <p:cNvSpPr/>
          <p:nvPr/>
        </p:nvSpPr>
        <p:spPr>
          <a:xfrm>
            <a:off x="548640" y="5120640"/>
            <a:ext cx="11064240" cy="73152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239512"/>
            <a:ext cx="2377440" cy="457200"/>
          </a:xfrm>
          <a:prstGeom prst="rect">
            <a:avLst/>
          </a:prstGeom>
          <a:noFill/>
        </p:spPr>
        <p:txBody>
          <a:bodyPr wrap="square" anchor="t" lIns="45720" rIns="45720">
            <a:spAutoFit/>
          </a:bodyPr>
          <a:lstStyle/>
          <a:p>
            <a:pPr algn="l"/>
            <a:r>
              <a:rPr sz="1900" b="1">
                <a:solidFill>
                  <a:srgbClr val="167E80"/>
                </a:solidFill>
                <a:latin typeface="Calibri"/>
              </a:rPr>
              <a:t>Integrity</a:t>
            </a:r>
          </a:p>
        </p:txBody>
      </p:sp>
      <p:sp>
        <p:nvSpPr>
          <p:cNvPr id="22" name="TextBox 21"/>
          <p:cNvSpPr txBox="1"/>
          <p:nvPr/>
        </p:nvSpPr>
        <p:spPr>
          <a:xfrm>
            <a:off x="3108960" y="5239512"/>
            <a:ext cx="8412480" cy="548640"/>
          </a:xfrm>
          <a:prstGeom prst="rect">
            <a:avLst/>
          </a:prstGeom>
          <a:noFill/>
        </p:spPr>
        <p:txBody>
          <a:bodyPr wrap="square" anchor="t" lIns="45720" rIns="45720">
            <a:spAutoFit/>
          </a:bodyPr>
          <a:lstStyle/>
          <a:p>
            <a:pPr algn="l"/>
            <a:r>
              <a:rPr sz="1700" b="0">
                <a:solidFill>
                  <a:srgbClr val="26313C"/>
                </a:solidFill>
                <a:latin typeface="Calibri"/>
              </a:rPr>
              <a:t>SHA-256, HMAC-SHA256, hash-chained audit log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TRUST</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Evidence integrity</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24</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pic>
        <p:nvPicPr>
          <p:cNvPr id="8" name="Picture 7" descr="pipeline.png"/>
          <p:cNvPicPr>
            <a:picLocks noChangeAspect="1"/>
          </p:cNvPicPr>
          <p:nvPr/>
        </p:nvPicPr>
        <p:blipFill>
          <a:blip r:embed="rId3"/>
          <a:stretch>
            <a:fillRect/>
          </a:stretch>
        </p:blipFill>
        <p:spPr>
          <a:xfrm>
            <a:off x="548640" y="1554480"/>
            <a:ext cx="11064240" cy="1825600"/>
          </a:xfrm>
          <a:prstGeom prst="rect">
            <a:avLst/>
          </a:prstGeom>
        </p:spPr>
      </p:pic>
      <p:sp>
        <p:nvSpPr>
          <p:cNvPr id="9" name="TextBox 8"/>
          <p:cNvSpPr txBox="1"/>
          <p:nvPr/>
        </p:nvSpPr>
        <p:spPr>
          <a:xfrm>
            <a:off x="548640" y="3840480"/>
            <a:ext cx="10972800" cy="2560320"/>
          </a:xfrm>
          <a:prstGeom prst="rect">
            <a:avLst/>
          </a:prstGeom>
          <a:noFill/>
        </p:spPr>
        <p:txBody>
          <a:bodyPr wrap="square">
            <a:spAutoFit/>
          </a:bodyPr>
          <a:lstStyle/>
          <a:p>
            <a:pPr>
              <a:spcAft>
                <a:spcPts val="800"/>
              </a:spcAft>
            </a:pPr>
            <a:r>
              <a:rPr sz="1300">
                <a:solidFill>
                  <a:srgbClr val="C6A36B"/>
                </a:solidFill>
              </a:rPr>
              <a:t>◆  </a:t>
            </a:r>
            <a:r>
              <a:rPr sz="1900" b="0">
                <a:solidFill>
                  <a:srgbClr val="26313C"/>
                </a:solidFill>
                <a:latin typeface="Calibri"/>
              </a:rPr>
              <a:t>Source file </a:t>
            </a:r>
            <a:r>
              <a:rPr sz="1900" b="1">
                <a:solidFill>
                  <a:srgbClr val="26313C"/>
                </a:solidFill>
                <a:latin typeface="Calibri"/>
              </a:rPr>
              <a:t>SHA-256</a:t>
            </a:r>
            <a:r>
              <a:rPr sz="1900" b="0">
                <a:solidFill>
                  <a:srgbClr val="26313C"/>
                </a:solidFill>
                <a:latin typeface="Calibri"/>
              </a:rPr>
              <a:t> and rule-version id on every report</a:t>
            </a:r>
          </a:p>
          <a:p>
            <a:pPr>
              <a:spcAft>
                <a:spcPts val="800"/>
              </a:spcAft>
            </a:pPr>
            <a:r>
              <a:rPr sz="1300">
                <a:solidFill>
                  <a:srgbClr val="C6A36B"/>
                </a:solidFill>
              </a:rPr>
              <a:t>◆  </a:t>
            </a:r>
            <a:r>
              <a:rPr sz="1900" b="0">
                <a:solidFill>
                  <a:srgbClr val="26313C"/>
                </a:solidFill>
                <a:latin typeface="Calibri"/>
              </a:rPr>
              <a:t>Report sealed with </a:t>
            </a:r>
            <a:r>
              <a:rPr sz="1900" b="1">
                <a:solidFill>
                  <a:srgbClr val="26313C"/>
                </a:solidFill>
                <a:latin typeface="Calibri"/>
              </a:rPr>
              <a:t>SHA-256 + HMAC</a:t>
            </a:r>
            <a:r>
              <a:rPr sz="1900" b="0">
                <a:solidFill>
                  <a:srgbClr val="26313C"/>
                </a:solidFill>
                <a:latin typeface="Calibri"/>
              </a:rPr>
              <a:t>; import of an edited report is </a:t>
            </a:r>
            <a:r>
              <a:rPr sz="1900" b="1">
                <a:solidFill>
                  <a:srgbClr val="26313C"/>
                </a:solidFill>
                <a:latin typeface="Calibri"/>
              </a:rPr>
              <a:t>rejected</a:t>
            </a:r>
            <a:r>
              <a:rPr sz="1900" b="0">
                <a:solidFill>
                  <a:srgbClr val="26313C"/>
                </a:solidFill>
                <a:latin typeface="Calibri"/>
              </a:rPr>
              <a:t> (tested)</a:t>
            </a:r>
          </a:p>
          <a:p>
            <a:pPr>
              <a:spcAft>
                <a:spcPts val="800"/>
              </a:spcAft>
            </a:pPr>
            <a:r>
              <a:rPr sz="1300">
                <a:solidFill>
                  <a:srgbClr val="C6A36B"/>
                </a:solidFill>
              </a:rPr>
              <a:t>◆  </a:t>
            </a:r>
            <a:r>
              <a:rPr sz="1900" b="0">
                <a:solidFill>
                  <a:srgbClr val="26313C"/>
                </a:solidFill>
                <a:latin typeface="Calibri"/>
              </a:rPr>
              <a:t>Host actions in a </a:t>
            </a:r>
            <a:r>
              <a:rPr sz="1900" b="1">
                <a:solidFill>
                  <a:srgbClr val="26313C"/>
                </a:solidFill>
                <a:latin typeface="Calibri"/>
              </a:rPr>
              <a:t>hash-chained audit log</a:t>
            </a:r>
            <a:r>
              <a:rPr sz="1900" b="0">
                <a:solidFill>
                  <a:srgbClr val="26313C"/>
                </a:solidFill>
                <a:latin typeface="Calibri"/>
              </a:rPr>
              <a:t>; tampering detected (tested)</a:t>
            </a:r>
          </a:p>
          <a:p>
            <a:pPr>
              <a:spcAft>
                <a:spcPts val="800"/>
              </a:spcAft>
            </a:pPr>
            <a:r>
              <a:rPr sz="1300">
                <a:solidFill>
                  <a:srgbClr val="C6A36B"/>
                </a:solidFill>
              </a:rPr>
              <a:t>◆  </a:t>
            </a:r>
            <a:r>
              <a:rPr sz="1900" b="0">
                <a:solidFill>
                  <a:srgbClr val="26313C"/>
                </a:solidFill>
                <a:latin typeface="Calibri"/>
              </a:rPr>
              <a:t>Stand-alone Python judge produces the same sealed report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RESPONSIBLE AI</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Fairness and privacy</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25</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5486400" cy="411480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5120640" cy="457200"/>
          </a:xfrm>
          <a:prstGeom prst="rect">
            <a:avLst/>
          </a:prstGeom>
          <a:noFill/>
        </p:spPr>
        <p:txBody>
          <a:bodyPr wrap="square" anchor="t" lIns="45720" rIns="45720">
            <a:spAutoFit/>
          </a:bodyPr>
          <a:lstStyle/>
          <a:p>
            <a:pPr algn="l"/>
            <a:r>
              <a:rPr sz="2000" b="1">
                <a:solidFill>
                  <a:srgbClr val="F7F3EB"/>
                </a:solidFill>
                <a:latin typeface="Cambria"/>
              </a:rPr>
              <a:t>Fairness</a:t>
            </a:r>
          </a:p>
        </p:txBody>
      </p:sp>
      <p:sp>
        <p:nvSpPr>
          <p:cNvPr id="10" name="TextBox 9"/>
          <p:cNvSpPr txBox="1"/>
          <p:nvPr/>
        </p:nvSpPr>
        <p:spPr>
          <a:xfrm>
            <a:off x="731520" y="2377439"/>
            <a:ext cx="5120640" cy="3383280"/>
          </a:xfrm>
          <a:prstGeom prst="rect">
            <a:avLst/>
          </a:prstGeom>
          <a:noFill/>
        </p:spPr>
        <p:txBody>
          <a:bodyPr wrap="square" anchor="t" lIns="45720" rIns="45720">
            <a:spAutoFit/>
          </a:bodyPr>
          <a:lstStyle/>
          <a:p>
            <a:pPr algn="l"/>
            <a:r>
              <a:rPr sz="1500" b="0">
                <a:solidFill>
                  <a:srgbClr val="F7F3EB"/>
                </a:solidFill>
                <a:latin typeface="Calibri"/>
              </a:rPr>
              <a:t>Rules are written and versioned</a:t>
            </a:r>
          </a:p>
          <a:p>
            <a:pPr algn="l"/>
            <a:r>
              <a:rPr sz="1500" b="0">
                <a:solidFill>
                  <a:srgbClr val="F7F3EB"/>
                </a:solidFill>
                <a:latin typeface="Calibri"/>
              </a:rPr>
              <a:t>Uncertain = NEEDS_REVIEW, never guessed</a:t>
            </a:r>
          </a:p>
          <a:p>
            <a:pPr algn="l"/>
            <a:r>
              <a:rPr sz="1500" b="0">
                <a:solidFill>
                  <a:srgbClr val="F7F3EB"/>
                </a:solidFill>
                <a:latin typeface="Calibri"/>
              </a:rPr>
              <a:t>Unobserved ball time is 'unknown'</a:t>
            </a:r>
          </a:p>
          <a:p>
            <a:pPr algn="l"/>
            <a:r>
              <a:rPr sz="1500" b="0">
                <a:solidFill>
                  <a:srgbClr val="F7F3EB"/>
                </a:solidFill>
                <a:latin typeface="Calibri"/>
              </a:rPr>
              <a:t>Every call can be accepted / rejected</a:t>
            </a:r>
          </a:p>
          <a:p>
            <a:pPr algn="l"/>
            <a:r>
              <a:rPr sz="1500" b="0">
                <a:solidFill>
                  <a:srgbClr val="F7F3EB"/>
                </a:solidFill>
                <a:latin typeface="Calibri"/>
              </a:rPr>
              <a:t>Arabic + English, team + solo</a:t>
            </a:r>
          </a:p>
        </p:txBody>
      </p:sp>
      <p:sp>
        <p:nvSpPr>
          <p:cNvPr id="11" name="Rounded Rectangle 10"/>
          <p:cNvSpPr/>
          <p:nvPr/>
        </p:nvSpPr>
        <p:spPr>
          <a:xfrm>
            <a:off x="6309360" y="1737360"/>
            <a:ext cx="5303520" cy="4114800"/>
          </a:xfrm>
          <a:prstGeom prst="roundRect">
            <a:avLst>
              <a:gd name="adj" fmla="val 6000"/>
            </a:avLst>
          </a:prstGeom>
          <a:solidFill>
            <a:srgbClr val="167E80"/>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74519"/>
            <a:ext cx="4937759" cy="457200"/>
          </a:xfrm>
          <a:prstGeom prst="rect">
            <a:avLst/>
          </a:prstGeom>
          <a:noFill/>
        </p:spPr>
        <p:txBody>
          <a:bodyPr wrap="square" anchor="t" lIns="45720" rIns="45720">
            <a:spAutoFit/>
          </a:bodyPr>
          <a:lstStyle/>
          <a:p>
            <a:pPr algn="l"/>
            <a:r>
              <a:rPr sz="2000" b="1">
                <a:solidFill>
                  <a:srgbClr val="FFFFFF"/>
                </a:solidFill>
                <a:latin typeface="Cambria"/>
              </a:rPr>
              <a:t>Privacy &amp; security</a:t>
            </a:r>
          </a:p>
        </p:txBody>
      </p:sp>
      <p:sp>
        <p:nvSpPr>
          <p:cNvPr id="13" name="TextBox 12"/>
          <p:cNvSpPr txBox="1"/>
          <p:nvPr/>
        </p:nvSpPr>
        <p:spPr>
          <a:xfrm>
            <a:off x="6492240" y="2377439"/>
            <a:ext cx="4937759" cy="3383280"/>
          </a:xfrm>
          <a:prstGeom prst="rect">
            <a:avLst/>
          </a:prstGeom>
          <a:noFill/>
        </p:spPr>
        <p:txBody>
          <a:bodyPr wrap="square" anchor="t" lIns="45720" rIns="45720">
            <a:spAutoFit/>
          </a:bodyPr>
          <a:lstStyle/>
          <a:p>
            <a:pPr algn="l"/>
            <a:r>
              <a:rPr sz="1500" b="0">
                <a:solidFill>
                  <a:srgbClr val="FFFFFF"/>
                </a:solidFill>
                <a:latin typeface="Calibri"/>
              </a:rPr>
              <a:t>No face identification or biometrics</a:t>
            </a:r>
          </a:p>
          <a:p>
            <a:pPr algn="l"/>
            <a:r>
              <a:rPr sz="1500" b="0">
                <a:solidFill>
                  <a:srgbClr val="FFFFFF"/>
                </a:solidFill>
                <a:latin typeface="Calibri"/>
              </a:rPr>
              <a:t>Credentials only in server environment</a:t>
            </a:r>
          </a:p>
          <a:p>
            <a:pPr algn="l"/>
            <a:r>
              <a:rPr sz="1500" b="0">
                <a:solidFill>
                  <a:srgbClr val="FFFFFF"/>
                </a:solidFill>
                <a:latin typeface="Calibri"/>
              </a:rPr>
              <a:t>Audio sent only for transcription</a:t>
            </a:r>
          </a:p>
          <a:p>
            <a:pPr algn="l"/>
            <a:r>
              <a:rPr sz="1500" b="0">
                <a:solidFill>
                  <a:srgbClr val="FFFFFF"/>
                </a:solidFill>
                <a:latin typeface="Calibri"/>
              </a:rPr>
              <a:t>Consent from everyone filmed</a:t>
            </a:r>
          </a:p>
          <a:p>
            <a:pPr algn="l"/>
            <a:r>
              <a:rPr sz="1500" b="0">
                <a:solidFill>
                  <a:srgbClr val="FFFFFF"/>
                </a:solidFill>
                <a:latin typeface="Calibri"/>
              </a:rPr>
              <a:t>Reports signed against tampering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HOW WE TEST</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Evaluation methodology</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26</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3611880" cy="219456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3246120" cy="457200"/>
          </a:xfrm>
          <a:prstGeom prst="rect">
            <a:avLst/>
          </a:prstGeom>
          <a:noFill/>
        </p:spPr>
        <p:txBody>
          <a:bodyPr wrap="square" anchor="t" lIns="45720" rIns="45720">
            <a:spAutoFit/>
          </a:bodyPr>
          <a:lstStyle/>
          <a:p>
            <a:pPr algn="l"/>
            <a:r>
              <a:rPr sz="2000" b="1">
                <a:solidFill>
                  <a:srgbClr val="12243A"/>
                </a:solidFill>
                <a:latin typeface="Cambria"/>
              </a:rPr>
              <a:t>Rule engines</a:t>
            </a:r>
          </a:p>
        </p:txBody>
      </p:sp>
      <p:sp>
        <p:nvSpPr>
          <p:cNvPr id="10" name="TextBox 9"/>
          <p:cNvSpPr txBox="1"/>
          <p:nvPr/>
        </p:nvSpPr>
        <p:spPr>
          <a:xfrm>
            <a:off x="731520" y="2377439"/>
            <a:ext cx="3246120" cy="1463039"/>
          </a:xfrm>
          <a:prstGeom prst="rect">
            <a:avLst/>
          </a:prstGeom>
          <a:noFill/>
        </p:spPr>
        <p:txBody>
          <a:bodyPr wrap="square" anchor="t" lIns="45720" rIns="45720">
            <a:spAutoFit/>
          </a:bodyPr>
          <a:lstStyle/>
          <a:p>
            <a:pPr algn="l"/>
            <a:r>
              <a:rPr sz="1500" b="0">
                <a:solidFill>
                  <a:srgbClr val="26313C"/>
                </a:solidFill>
                <a:latin typeface="Calibri"/>
              </a:rPr>
              <a:t>Unit tests per game: valid, invalid, edge, tie-break</a:t>
            </a:r>
          </a:p>
        </p:txBody>
      </p:sp>
      <p:sp>
        <p:nvSpPr>
          <p:cNvPr id="11" name="Rounded Rectangle 10"/>
          <p:cNvSpPr/>
          <p:nvPr/>
        </p:nvSpPr>
        <p:spPr>
          <a:xfrm>
            <a:off x="4343400" y="1737360"/>
            <a:ext cx="3611880" cy="219456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874519"/>
            <a:ext cx="3246120" cy="457200"/>
          </a:xfrm>
          <a:prstGeom prst="rect">
            <a:avLst/>
          </a:prstGeom>
          <a:noFill/>
        </p:spPr>
        <p:txBody>
          <a:bodyPr wrap="square" anchor="t" lIns="45720" rIns="45720">
            <a:spAutoFit/>
          </a:bodyPr>
          <a:lstStyle/>
          <a:p>
            <a:pPr algn="l"/>
            <a:r>
              <a:rPr sz="2000" b="1">
                <a:solidFill>
                  <a:srgbClr val="12243A"/>
                </a:solidFill>
                <a:latin typeface="Cambria"/>
              </a:rPr>
              <a:t>Pipelines</a:t>
            </a:r>
          </a:p>
        </p:txBody>
      </p:sp>
      <p:sp>
        <p:nvSpPr>
          <p:cNvPr id="13" name="TextBox 12"/>
          <p:cNvSpPr txBox="1"/>
          <p:nvPr/>
        </p:nvSpPr>
        <p:spPr>
          <a:xfrm>
            <a:off x="4526280" y="2377439"/>
            <a:ext cx="3246120" cy="1463039"/>
          </a:xfrm>
          <a:prstGeom prst="rect">
            <a:avLst/>
          </a:prstGeom>
          <a:noFill/>
        </p:spPr>
        <p:txBody>
          <a:bodyPr wrap="square" anchor="t" lIns="45720" rIns="45720">
            <a:spAutoFit/>
          </a:bodyPr>
          <a:lstStyle/>
          <a:p>
            <a:pPr algn="l"/>
            <a:r>
              <a:rPr sz="1500" b="0">
                <a:solidFill>
                  <a:srgbClr val="26313C"/>
                </a:solidFill>
                <a:latin typeface="Calibri"/>
              </a:rPr>
              <a:t>Synthetic fixtures with known ground truth → video → events → score</a:t>
            </a:r>
          </a:p>
        </p:txBody>
      </p:sp>
      <p:sp>
        <p:nvSpPr>
          <p:cNvPr id="14" name="Rounded Rectangle 13"/>
          <p:cNvSpPr/>
          <p:nvPr/>
        </p:nvSpPr>
        <p:spPr>
          <a:xfrm>
            <a:off x="8138160" y="1737360"/>
            <a:ext cx="3611880" cy="219456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874519"/>
            <a:ext cx="3246120" cy="457200"/>
          </a:xfrm>
          <a:prstGeom prst="rect">
            <a:avLst/>
          </a:prstGeom>
          <a:noFill/>
        </p:spPr>
        <p:txBody>
          <a:bodyPr wrap="square" anchor="t" lIns="45720" rIns="45720">
            <a:spAutoFit/>
          </a:bodyPr>
          <a:lstStyle/>
          <a:p>
            <a:pPr algn="l"/>
            <a:r>
              <a:rPr sz="2000" b="1">
                <a:solidFill>
                  <a:srgbClr val="12243A"/>
                </a:solidFill>
                <a:latin typeface="Cambria"/>
              </a:rPr>
              <a:t>API &amp; integrity</a:t>
            </a:r>
          </a:p>
        </p:txBody>
      </p:sp>
      <p:sp>
        <p:nvSpPr>
          <p:cNvPr id="16" name="TextBox 15"/>
          <p:cNvSpPr txBox="1"/>
          <p:nvPr/>
        </p:nvSpPr>
        <p:spPr>
          <a:xfrm>
            <a:off x="8321040" y="2377439"/>
            <a:ext cx="3246120" cy="1463039"/>
          </a:xfrm>
          <a:prstGeom prst="rect">
            <a:avLst/>
          </a:prstGeom>
          <a:noFill/>
        </p:spPr>
        <p:txBody>
          <a:bodyPr wrap="square" anchor="t" lIns="45720" rIns="45720">
            <a:spAutoFit/>
          </a:bodyPr>
          <a:lstStyle/>
          <a:p>
            <a:pPr algn="l"/>
            <a:r>
              <a:rPr sz="1500" b="0">
                <a:solidFill>
                  <a:srgbClr val="26313C"/>
                </a:solidFill>
                <a:latin typeface="Calibri"/>
              </a:rPr>
              <a:t>Upload → job → report → host review → tamper rejection</a:t>
            </a:r>
          </a:p>
        </p:txBody>
      </p:sp>
      <p:sp>
        <p:nvSpPr>
          <p:cNvPr id="17" name="Rounded Rectangle 16"/>
          <p:cNvSpPr/>
          <p:nvPr/>
        </p:nvSpPr>
        <p:spPr>
          <a:xfrm>
            <a:off x="548640" y="4297680"/>
            <a:ext cx="11064240" cy="1371600"/>
          </a:xfrm>
          <a:prstGeom prst="roundRect">
            <a:avLst/>
          </a:prstGeom>
          <a:solidFill>
            <a:srgbClr val="C6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34840"/>
            <a:ext cx="10607040" cy="1097280"/>
          </a:xfrm>
          <a:prstGeom prst="rect">
            <a:avLst/>
          </a:prstGeom>
          <a:noFill/>
        </p:spPr>
        <p:txBody>
          <a:bodyPr wrap="square" anchor="t" lIns="45720" rIns="45720">
            <a:spAutoFit/>
          </a:bodyPr>
          <a:lstStyle/>
          <a:p>
            <a:pPr algn="l"/>
            <a:r>
              <a:rPr sz="1800" b="1">
                <a:solidFill>
                  <a:srgbClr val="12243A"/>
                </a:solidFill>
                <a:latin typeface="Calibri"/>
              </a:rPr>
              <a:t>Honest scope: fixtures are rendered by code, not real family gameplay. They prove the pipelines work; they do not measure real-world accuracy. Real clips are the next step.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VERIFIED BY RUNNING</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Actual test results</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27</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TextBox 7"/>
          <p:cNvSpPr txBox="1"/>
          <p:nvPr/>
        </p:nvSpPr>
        <p:spPr>
          <a:xfrm>
            <a:off x="548640" y="1645920"/>
            <a:ext cx="2743200" cy="822960"/>
          </a:xfrm>
          <a:prstGeom prst="rect">
            <a:avLst/>
          </a:prstGeom>
          <a:noFill/>
        </p:spPr>
        <p:txBody>
          <a:bodyPr wrap="square" anchor="t" lIns="45720" rIns="45720">
            <a:spAutoFit/>
          </a:bodyPr>
          <a:lstStyle/>
          <a:p>
            <a:pPr algn="l"/>
            <a:r>
              <a:rPr sz="4400" b="1">
                <a:solidFill>
                  <a:srgbClr val="167E80"/>
                </a:solidFill>
                <a:latin typeface="Cambria"/>
              </a:rPr>
              <a:t>46/46</a:t>
            </a:r>
          </a:p>
        </p:txBody>
      </p:sp>
      <p:sp>
        <p:nvSpPr>
          <p:cNvPr id="9" name="TextBox 8"/>
          <p:cNvSpPr txBox="1"/>
          <p:nvPr/>
        </p:nvSpPr>
        <p:spPr>
          <a:xfrm>
            <a:off x="548640" y="2514600"/>
            <a:ext cx="2743200" cy="731520"/>
          </a:xfrm>
          <a:prstGeom prst="rect">
            <a:avLst/>
          </a:prstGeom>
          <a:noFill/>
        </p:spPr>
        <p:txBody>
          <a:bodyPr wrap="square" anchor="t" lIns="45720" rIns="45720">
            <a:spAutoFit/>
          </a:bodyPr>
          <a:lstStyle/>
          <a:p>
            <a:pPr algn="l"/>
            <a:r>
              <a:rPr sz="1400" b="0">
                <a:solidFill>
                  <a:srgbClr val="26313C"/>
                </a:solidFill>
                <a:latin typeface="Calibri"/>
              </a:rPr>
              <a:t>automated tests passed</a:t>
            </a:r>
          </a:p>
        </p:txBody>
      </p:sp>
      <p:sp>
        <p:nvSpPr>
          <p:cNvPr id="10" name="TextBox 9"/>
          <p:cNvSpPr txBox="1"/>
          <p:nvPr/>
        </p:nvSpPr>
        <p:spPr>
          <a:xfrm>
            <a:off x="3383280" y="1645920"/>
            <a:ext cx="2743200" cy="822960"/>
          </a:xfrm>
          <a:prstGeom prst="rect">
            <a:avLst/>
          </a:prstGeom>
          <a:noFill/>
        </p:spPr>
        <p:txBody>
          <a:bodyPr wrap="square" anchor="t" lIns="45720" rIns="45720">
            <a:spAutoFit/>
          </a:bodyPr>
          <a:lstStyle/>
          <a:p>
            <a:pPr algn="l"/>
            <a:r>
              <a:rPr sz="4400" b="1">
                <a:solidFill>
                  <a:srgbClr val="167E80"/>
                </a:solidFill>
                <a:latin typeface="Cambria"/>
              </a:rPr>
              <a:t>9/9</a:t>
            </a:r>
          </a:p>
        </p:txBody>
      </p:sp>
      <p:sp>
        <p:nvSpPr>
          <p:cNvPr id="11" name="TextBox 10"/>
          <p:cNvSpPr txBox="1"/>
          <p:nvPr/>
        </p:nvSpPr>
        <p:spPr>
          <a:xfrm>
            <a:off x="3383280" y="2514600"/>
            <a:ext cx="2743200" cy="731520"/>
          </a:xfrm>
          <a:prstGeom prst="rect">
            <a:avLst/>
          </a:prstGeom>
          <a:noFill/>
        </p:spPr>
        <p:txBody>
          <a:bodyPr wrap="square" anchor="t" lIns="45720" rIns="45720">
            <a:spAutoFit/>
          </a:bodyPr>
          <a:lstStyle/>
          <a:p>
            <a:pPr algn="l"/>
            <a:r>
              <a:rPr sz="1400" b="0">
                <a:solidFill>
                  <a:srgbClr val="26313C"/>
                </a:solidFill>
                <a:latin typeface="Calibri"/>
              </a:rPr>
              <a:t>synthetic fixtures match ground truth</a:t>
            </a:r>
          </a:p>
        </p:txBody>
      </p:sp>
      <p:sp>
        <p:nvSpPr>
          <p:cNvPr id="12" name="TextBox 11"/>
          <p:cNvSpPr txBox="1"/>
          <p:nvPr/>
        </p:nvSpPr>
        <p:spPr>
          <a:xfrm>
            <a:off x="6217920" y="1645920"/>
            <a:ext cx="2743200" cy="822960"/>
          </a:xfrm>
          <a:prstGeom prst="rect">
            <a:avLst/>
          </a:prstGeom>
          <a:noFill/>
        </p:spPr>
        <p:txBody>
          <a:bodyPr wrap="square" anchor="t" lIns="45720" rIns="45720">
            <a:spAutoFit/>
          </a:bodyPr>
          <a:lstStyle/>
          <a:p>
            <a:pPr algn="l"/>
            <a:r>
              <a:rPr sz="4400" b="1">
                <a:solidFill>
                  <a:srgbClr val="B92D39"/>
                </a:solidFill>
                <a:latin typeface="Cambria"/>
              </a:rPr>
              <a:t>0</a:t>
            </a:r>
          </a:p>
        </p:txBody>
      </p:sp>
      <p:sp>
        <p:nvSpPr>
          <p:cNvPr id="13" name="TextBox 12"/>
          <p:cNvSpPr txBox="1"/>
          <p:nvPr/>
        </p:nvSpPr>
        <p:spPr>
          <a:xfrm>
            <a:off x="6217920" y="2514600"/>
            <a:ext cx="2743200" cy="731520"/>
          </a:xfrm>
          <a:prstGeom prst="rect">
            <a:avLst/>
          </a:prstGeom>
          <a:noFill/>
        </p:spPr>
        <p:txBody>
          <a:bodyPr wrap="square" anchor="t" lIns="45720" rIns="45720">
            <a:spAutoFit/>
          </a:bodyPr>
          <a:lstStyle/>
          <a:p>
            <a:pPr algn="l"/>
            <a:r>
              <a:rPr sz="1400" b="0">
                <a:solidFill>
                  <a:srgbClr val="26313C"/>
                </a:solidFill>
                <a:latin typeface="Calibri"/>
              </a:rPr>
              <a:t>real family clips analysed yet</a:t>
            </a:r>
          </a:p>
        </p:txBody>
      </p:sp>
      <p:sp>
        <p:nvSpPr>
          <p:cNvPr id="14" name="Rounded Rectangle 13"/>
          <p:cNvSpPr/>
          <p:nvPr/>
        </p:nvSpPr>
        <p:spPr>
          <a:xfrm>
            <a:off x="548640" y="352044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566160"/>
            <a:ext cx="3383280" cy="365760"/>
          </a:xfrm>
          <a:prstGeom prst="rect">
            <a:avLst/>
          </a:prstGeom>
          <a:noFill/>
        </p:spPr>
        <p:txBody>
          <a:bodyPr wrap="square" anchor="t" lIns="45720" rIns="45720">
            <a:spAutoFit/>
          </a:bodyPr>
          <a:lstStyle/>
          <a:p>
            <a:pPr algn="l"/>
            <a:r>
              <a:rPr sz="1400" b="1">
                <a:solidFill>
                  <a:srgbClr val="167E80"/>
                </a:solidFill>
                <a:latin typeface="Calibri"/>
              </a:rPr>
              <a:t>football_goal  ✓</a:t>
            </a:r>
          </a:p>
        </p:txBody>
      </p:sp>
      <p:sp>
        <p:nvSpPr>
          <p:cNvPr id="16" name="TextBox 15"/>
          <p:cNvSpPr txBox="1"/>
          <p:nvPr/>
        </p:nvSpPr>
        <p:spPr>
          <a:xfrm>
            <a:off x="685800" y="3904488"/>
            <a:ext cx="3383280" cy="411480"/>
          </a:xfrm>
          <a:prstGeom prst="rect">
            <a:avLst/>
          </a:prstGeom>
          <a:noFill/>
        </p:spPr>
        <p:txBody>
          <a:bodyPr wrap="square" anchor="t" lIns="45720" rIns="45720">
            <a:spAutoFit/>
          </a:bodyPr>
          <a:lstStyle/>
          <a:p>
            <a:pPr algn="l"/>
            <a:r>
              <a:rPr sz="1100" b="0">
                <a:solidFill>
                  <a:srgbClr val="26313C"/>
                </a:solidFill>
                <a:latin typeface="Calibri"/>
              </a:rPr>
              <a:t>goals_A=1, goals_B=0, verified_goal_events=1</a:t>
            </a:r>
          </a:p>
        </p:txBody>
      </p:sp>
      <p:sp>
        <p:nvSpPr>
          <p:cNvPr id="17" name="Rounded Rectangle 16"/>
          <p:cNvSpPr/>
          <p:nvPr/>
        </p:nvSpPr>
        <p:spPr>
          <a:xfrm>
            <a:off x="4343400" y="352044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566160"/>
            <a:ext cx="3383280" cy="365760"/>
          </a:xfrm>
          <a:prstGeom prst="rect">
            <a:avLst/>
          </a:prstGeom>
          <a:noFill/>
        </p:spPr>
        <p:txBody>
          <a:bodyPr wrap="square" anchor="t" lIns="45720" rIns="45720">
            <a:spAutoFit/>
          </a:bodyPr>
          <a:lstStyle/>
          <a:p>
            <a:pPr algn="l"/>
            <a:r>
              <a:rPr sz="1400" b="1">
                <a:solidFill>
                  <a:srgbClr val="167E80"/>
                </a:solidFill>
                <a:latin typeface="Calibri"/>
              </a:rPr>
              <a:t>football_nogoal  ✓</a:t>
            </a:r>
          </a:p>
        </p:txBody>
      </p:sp>
      <p:sp>
        <p:nvSpPr>
          <p:cNvPr id="19" name="TextBox 18"/>
          <p:cNvSpPr txBox="1"/>
          <p:nvPr/>
        </p:nvSpPr>
        <p:spPr>
          <a:xfrm>
            <a:off x="4480560" y="3904488"/>
            <a:ext cx="3383280" cy="411480"/>
          </a:xfrm>
          <a:prstGeom prst="rect">
            <a:avLst/>
          </a:prstGeom>
          <a:noFill/>
        </p:spPr>
        <p:txBody>
          <a:bodyPr wrap="square" anchor="t" lIns="45720" rIns="45720">
            <a:spAutoFit/>
          </a:bodyPr>
          <a:lstStyle/>
          <a:p>
            <a:pPr algn="l"/>
            <a:r>
              <a:rPr sz="1100" b="0">
                <a:solidFill>
                  <a:srgbClr val="26313C"/>
                </a:solidFill>
                <a:latin typeface="Calibri"/>
              </a:rPr>
              <a:t>goals_A=0, goals_B=0, verified_goal_events=0</a:t>
            </a:r>
          </a:p>
        </p:txBody>
      </p:sp>
      <p:sp>
        <p:nvSpPr>
          <p:cNvPr id="20" name="Rounded Rectangle 19"/>
          <p:cNvSpPr/>
          <p:nvPr/>
        </p:nvSpPr>
        <p:spPr>
          <a:xfrm>
            <a:off x="8138160" y="352044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3566160"/>
            <a:ext cx="3383280" cy="365760"/>
          </a:xfrm>
          <a:prstGeom prst="rect">
            <a:avLst/>
          </a:prstGeom>
          <a:noFill/>
        </p:spPr>
        <p:txBody>
          <a:bodyPr wrap="square" anchor="t" lIns="45720" rIns="45720">
            <a:spAutoFit/>
          </a:bodyPr>
          <a:lstStyle/>
          <a:p>
            <a:pPr algn="l"/>
            <a:r>
              <a:rPr sz="1400" b="1">
                <a:solidFill>
                  <a:srgbClr val="167E80"/>
                </a:solidFill>
                <a:latin typeface="Calibri"/>
              </a:rPr>
              <a:t>football_uncertain  ✓</a:t>
            </a:r>
          </a:p>
        </p:txBody>
      </p:sp>
      <p:sp>
        <p:nvSpPr>
          <p:cNvPr id="22" name="TextBox 21"/>
          <p:cNvSpPr txBox="1"/>
          <p:nvPr/>
        </p:nvSpPr>
        <p:spPr>
          <a:xfrm>
            <a:off x="8275320" y="3904488"/>
            <a:ext cx="3383280" cy="411480"/>
          </a:xfrm>
          <a:prstGeom prst="rect">
            <a:avLst/>
          </a:prstGeom>
          <a:noFill/>
        </p:spPr>
        <p:txBody>
          <a:bodyPr wrap="square" anchor="t" lIns="45720" rIns="45720">
            <a:spAutoFit/>
          </a:bodyPr>
          <a:lstStyle/>
          <a:p>
            <a:pPr algn="l"/>
            <a:r>
              <a:rPr sz="1100" b="0">
                <a:solidFill>
                  <a:srgbClr val="26313C"/>
                </a:solidFill>
                <a:latin typeface="Calibri"/>
              </a:rPr>
              <a:t>goals_A=0, goals_B=0, verified_goal_events=0</a:t>
            </a:r>
          </a:p>
        </p:txBody>
      </p:sp>
      <p:sp>
        <p:nvSpPr>
          <p:cNvPr id="23" name="Rounded Rectangle 22"/>
          <p:cNvSpPr/>
          <p:nvPr/>
        </p:nvSpPr>
        <p:spPr>
          <a:xfrm>
            <a:off x="548640" y="448056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526280"/>
            <a:ext cx="3383280" cy="365760"/>
          </a:xfrm>
          <a:prstGeom prst="rect">
            <a:avLst/>
          </a:prstGeom>
          <a:noFill/>
        </p:spPr>
        <p:txBody>
          <a:bodyPr wrap="square" anchor="t" lIns="45720" rIns="45720">
            <a:spAutoFit/>
          </a:bodyPr>
          <a:lstStyle/>
          <a:p>
            <a:pPr algn="l"/>
            <a:r>
              <a:rPr sz="1400" b="1">
                <a:solidFill>
                  <a:srgbClr val="167E80"/>
                </a:solidFill>
                <a:latin typeface="Calibri"/>
              </a:rPr>
              <a:t>falaj_valid  ✓</a:t>
            </a:r>
          </a:p>
        </p:txBody>
      </p:sp>
      <p:sp>
        <p:nvSpPr>
          <p:cNvPr id="25" name="TextBox 24"/>
          <p:cNvSpPr txBox="1"/>
          <p:nvPr/>
        </p:nvSpPr>
        <p:spPr>
          <a:xfrm>
            <a:off x="685800" y="4864608"/>
            <a:ext cx="3383280" cy="411480"/>
          </a:xfrm>
          <a:prstGeom prst="rect">
            <a:avLst/>
          </a:prstGeom>
          <a:noFill/>
        </p:spPr>
        <p:txBody>
          <a:bodyPr wrap="square" anchor="t" lIns="45720" rIns="45720">
            <a:spAutoFit/>
          </a:bodyPr>
          <a:lstStyle/>
          <a:p>
            <a:pPr algn="l"/>
            <a:r>
              <a:rPr sz="1100" b="0">
                <a:solidFill>
                  <a:srgbClr val="26313C"/>
                </a:solidFill>
                <a:latin typeface="Calibri"/>
              </a:rPr>
              <a:t>destinations=3, leaks=0, time_bonus=2</a:t>
            </a:r>
          </a:p>
        </p:txBody>
      </p:sp>
      <p:sp>
        <p:nvSpPr>
          <p:cNvPr id="26" name="Rounded Rectangle 25"/>
          <p:cNvSpPr/>
          <p:nvPr/>
        </p:nvSpPr>
        <p:spPr>
          <a:xfrm>
            <a:off x="4343400" y="448056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4526280"/>
            <a:ext cx="3383280" cy="365760"/>
          </a:xfrm>
          <a:prstGeom prst="rect">
            <a:avLst/>
          </a:prstGeom>
          <a:noFill/>
        </p:spPr>
        <p:txBody>
          <a:bodyPr wrap="square" anchor="t" lIns="45720" rIns="45720">
            <a:spAutoFit/>
          </a:bodyPr>
          <a:lstStyle/>
          <a:p>
            <a:pPr algn="l"/>
            <a:r>
              <a:rPr sz="1400" b="1">
                <a:solidFill>
                  <a:srgbClr val="167E80"/>
                </a:solidFill>
                <a:latin typeface="Calibri"/>
              </a:rPr>
              <a:t>falaj_partial  ✓</a:t>
            </a:r>
          </a:p>
        </p:txBody>
      </p:sp>
      <p:sp>
        <p:nvSpPr>
          <p:cNvPr id="28" name="TextBox 27"/>
          <p:cNvSpPr txBox="1"/>
          <p:nvPr/>
        </p:nvSpPr>
        <p:spPr>
          <a:xfrm>
            <a:off x="4480560" y="4864608"/>
            <a:ext cx="3383280" cy="411480"/>
          </a:xfrm>
          <a:prstGeom prst="rect">
            <a:avLst/>
          </a:prstGeom>
          <a:noFill/>
        </p:spPr>
        <p:txBody>
          <a:bodyPr wrap="square" anchor="t" lIns="45720" rIns="45720">
            <a:spAutoFit/>
          </a:bodyPr>
          <a:lstStyle/>
          <a:p>
            <a:pPr algn="l"/>
            <a:r>
              <a:rPr sz="1100" b="0">
                <a:solidFill>
                  <a:srgbClr val="26313C"/>
                </a:solidFill>
                <a:latin typeface="Calibri"/>
              </a:rPr>
              <a:t>destinations=2, leaks=1, time_bonus=0</a:t>
            </a:r>
          </a:p>
        </p:txBody>
      </p:sp>
      <p:sp>
        <p:nvSpPr>
          <p:cNvPr id="29" name="Rounded Rectangle 28"/>
          <p:cNvSpPr/>
          <p:nvPr/>
        </p:nvSpPr>
        <p:spPr>
          <a:xfrm>
            <a:off x="8138160" y="448056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4526280"/>
            <a:ext cx="3383280" cy="365760"/>
          </a:xfrm>
          <a:prstGeom prst="rect">
            <a:avLst/>
          </a:prstGeom>
          <a:noFill/>
        </p:spPr>
        <p:txBody>
          <a:bodyPr wrap="square" anchor="t" lIns="45720" rIns="45720">
            <a:spAutoFit/>
          </a:bodyPr>
          <a:lstStyle/>
          <a:p>
            <a:pPr algn="l"/>
            <a:r>
              <a:rPr sz="1400" b="1">
                <a:solidFill>
                  <a:srgbClr val="167E80"/>
                </a:solidFill>
                <a:latin typeface="Calibri"/>
              </a:rPr>
              <a:t>falaj_rock  ✓</a:t>
            </a:r>
          </a:p>
        </p:txBody>
      </p:sp>
      <p:sp>
        <p:nvSpPr>
          <p:cNvPr id="31" name="TextBox 30"/>
          <p:cNvSpPr txBox="1"/>
          <p:nvPr/>
        </p:nvSpPr>
        <p:spPr>
          <a:xfrm>
            <a:off x="8275320" y="4864608"/>
            <a:ext cx="3383280" cy="411480"/>
          </a:xfrm>
          <a:prstGeom prst="rect">
            <a:avLst/>
          </a:prstGeom>
          <a:noFill/>
        </p:spPr>
        <p:txBody>
          <a:bodyPr wrap="square" anchor="t" lIns="45720" rIns="45720">
            <a:spAutoFit/>
          </a:bodyPr>
          <a:lstStyle/>
          <a:p>
            <a:pPr algn="l"/>
            <a:r>
              <a:rPr sz="1100" b="0">
                <a:solidFill>
                  <a:srgbClr val="26313C"/>
                </a:solidFill>
                <a:latin typeface="Calibri"/>
              </a:rPr>
              <a:t>destinations=3, leaks=1, time_bonus=2</a:t>
            </a:r>
          </a:p>
        </p:txBody>
      </p:sp>
      <p:sp>
        <p:nvSpPr>
          <p:cNvPr id="32" name="Rounded Rectangle 31"/>
          <p:cNvSpPr/>
          <p:nvPr/>
        </p:nvSpPr>
        <p:spPr>
          <a:xfrm>
            <a:off x="548640" y="544068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486400"/>
            <a:ext cx="3383280" cy="365760"/>
          </a:xfrm>
          <a:prstGeom prst="rect">
            <a:avLst/>
          </a:prstGeom>
          <a:noFill/>
        </p:spPr>
        <p:txBody>
          <a:bodyPr wrap="square" anchor="t" lIns="45720" rIns="45720">
            <a:spAutoFit/>
          </a:bodyPr>
          <a:lstStyle/>
          <a:p>
            <a:pPr algn="l"/>
            <a:r>
              <a:rPr sz="1400" b="1">
                <a:solidFill>
                  <a:srgbClr val="167E80"/>
                </a:solidFill>
                <a:latin typeface="Calibri"/>
              </a:rPr>
              <a:t>souq_correct  ✓</a:t>
            </a:r>
          </a:p>
        </p:txBody>
      </p:sp>
      <p:sp>
        <p:nvSpPr>
          <p:cNvPr id="34" name="TextBox 33"/>
          <p:cNvSpPr txBox="1"/>
          <p:nvPr/>
        </p:nvSpPr>
        <p:spPr>
          <a:xfrm>
            <a:off x="685800" y="5824728"/>
            <a:ext cx="3383280" cy="411480"/>
          </a:xfrm>
          <a:prstGeom prst="rect">
            <a:avLst/>
          </a:prstGeom>
          <a:noFill/>
        </p:spPr>
        <p:txBody>
          <a:bodyPr wrap="square" anchor="t" lIns="45720" rIns="45720">
            <a:spAutoFit/>
          </a:bodyPr>
          <a:lstStyle/>
          <a:p>
            <a:pPr algn="l"/>
            <a:r>
              <a:rPr sz="1100" b="0">
                <a:solidFill>
                  <a:srgbClr val="26313C"/>
                </a:solidFill>
                <a:latin typeface="Calibri"/>
              </a:rPr>
              <a:t>total=9, spend=55, mismatch=False</a:t>
            </a:r>
          </a:p>
        </p:txBody>
      </p:sp>
      <p:sp>
        <p:nvSpPr>
          <p:cNvPr id="35" name="Rounded Rectangle 34"/>
          <p:cNvSpPr/>
          <p:nvPr/>
        </p:nvSpPr>
        <p:spPr>
          <a:xfrm>
            <a:off x="4343400" y="544068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0560" y="5486400"/>
            <a:ext cx="3383280" cy="365760"/>
          </a:xfrm>
          <a:prstGeom prst="rect">
            <a:avLst/>
          </a:prstGeom>
          <a:noFill/>
        </p:spPr>
        <p:txBody>
          <a:bodyPr wrap="square" anchor="t" lIns="45720" rIns="45720">
            <a:spAutoFit/>
          </a:bodyPr>
          <a:lstStyle/>
          <a:p>
            <a:pPr algn="l"/>
            <a:r>
              <a:rPr sz="1400" b="1">
                <a:solidFill>
                  <a:srgbClr val="167E80"/>
                </a:solidFill>
                <a:latin typeface="Calibri"/>
              </a:rPr>
              <a:t>souq_mismatch  ✓</a:t>
            </a:r>
          </a:p>
        </p:txBody>
      </p:sp>
      <p:sp>
        <p:nvSpPr>
          <p:cNvPr id="37" name="TextBox 36"/>
          <p:cNvSpPr txBox="1"/>
          <p:nvPr/>
        </p:nvSpPr>
        <p:spPr>
          <a:xfrm>
            <a:off x="4480560" y="5824728"/>
            <a:ext cx="3383280" cy="411480"/>
          </a:xfrm>
          <a:prstGeom prst="rect">
            <a:avLst/>
          </a:prstGeom>
          <a:noFill/>
        </p:spPr>
        <p:txBody>
          <a:bodyPr wrap="square" anchor="t" lIns="45720" rIns="45720">
            <a:spAutoFit/>
          </a:bodyPr>
          <a:lstStyle/>
          <a:p>
            <a:pPr algn="l"/>
            <a:r>
              <a:rPr sz="1100" b="0">
                <a:solidFill>
                  <a:srgbClr val="26313C"/>
                </a:solidFill>
                <a:latin typeface="Calibri"/>
              </a:rPr>
              <a:t>total=2, spend=12, mismatch=True</a:t>
            </a:r>
          </a:p>
        </p:txBody>
      </p:sp>
      <p:sp>
        <p:nvSpPr>
          <p:cNvPr id="38" name="Rounded Rectangle 37"/>
          <p:cNvSpPr/>
          <p:nvPr/>
        </p:nvSpPr>
        <p:spPr>
          <a:xfrm>
            <a:off x="8138160" y="5440680"/>
            <a:ext cx="3611880" cy="822960"/>
          </a:xfrm>
          <a:prstGeom prst="round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75320" y="5486400"/>
            <a:ext cx="3383280" cy="365760"/>
          </a:xfrm>
          <a:prstGeom prst="rect">
            <a:avLst/>
          </a:prstGeom>
          <a:noFill/>
        </p:spPr>
        <p:txBody>
          <a:bodyPr wrap="square" anchor="t" lIns="45720" rIns="45720">
            <a:spAutoFit/>
          </a:bodyPr>
          <a:lstStyle/>
          <a:p>
            <a:pPr algn="l"/>
            <a:r>
              <a:rPr sz="1400" b="1">
                <a:solidFill>
                  <a:srgbClr val="167E80"/>
                </a:solidFill>
                <a:latin typeface="Calibri"/>
              </a:rPr>
              <a:t>souq_budget_dup  ✓</a:t>
            </a:r>
          </a:p>
        </p:txBody>
      </p:sp>
      <p:sp>
        <p:nvSpPr>
          <p:cNvPr id="40" name="TextBox 39"/>
          <p:cNvSpPr txBox="1"/>
          <p:nvPr/>
        </p:nvSpPr>
        <p:spPr>
          <a:xfrm>
            <a:off x="8275320" y="5824728"/>
            <a:ext cx="3383280" cy="411480"/>
          </a:xfrm>
          <a:prstGeom prst="rect">
            <a:avLst/>
          </a:prstGeom>
          <a:noFill/>
        </p:spPr>
        <p:txBody>
          <a:bodyPr wrap="square" anchor="t" lIns="45720" rIns="45720">
            <a:spAutoFit/>
          </a:bodyPr>
          <a:lstStyle/>
          <a:p>
            <a:pPr algn="l"/>
            <a:r>
              <a:rPr sz="1100" b="0">
                <a:solidFill>
                  <a:srgbClr val="26313C"/>
                </a:solidFill>
                <a:latin typeface="Calibri"/>
              </a:rPr>
              <a:t>total=7, spend=55, mismatch=False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DELIVERY</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GitHub and Vercel deployment</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28</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3611880" cy="237744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3246120" cy="457200"/>
          </a:xfrm>
          <a:prstGeom prst="rect">
            <a:avLst/>
          </a:prstGeom>
          <a:noFill/>
        </p:spPr>
        <p:txBody>
          <a:bodyPr wrap="square" anchor="t" lIns="45720" rIns="45720">
            <a:spAutoFit/>
          </a:bodyPr>
          <a:lstStyle/>
          <a:p>
            <a:pPr algn="l"/>
            <a:r>
              <a:rPr sz="2000" b="1">
                <a:solidFill>
                  <a:srgbClr val="FFFFFF"/>
                </a:solidFill>
                <a:latin typeface="Cambria"/>
              </a:rPr>
              <a:t>GitHub</a:t>
            </a:r>
          </a:p>
        </p:txBody>
      </p:sp>
      <p:sp>
        <p:nvSpPr>
          <p:cNvPr id="10" name="TextBox 9"/>
          <p:cNvSpPr txBox="1"/>
          <p:nvPr/>
        </p:nvSpPr>
        <p:spPr>
          <a:xfrm>
            <a:off x="731520" y="2377439"/>
            <a:ext cx="3246120" cy="1645920"/>
          </a:xfrm>
          <a:prstGeom prst="rect">
            <a:avLst/>
          </a:prstGeom>
          <a:noFill/>
        </p:spPr>
        <p:txBody>
          <a:bodyPr wrap="square" anchor="t" lIns="45720" rIns="45720">
            <a:spAutoFit/>
          </a:bodyPr>
          <a:lstStyle/>
          <a:p>
            <a:pPr algn="l"/>
            <a:r>
              <a:rPr sz="1500" b="0">
                <a:solidFill>
                  <a:srgbClr val="FFFFFF"/>
                </a:solidFill>
                <a:latin typeface="Calibri"/>
              </a:rPr>
              <a:t>MayMourad/wasl-arena (private): frontend, backend, tests, docs, AI-usage records</a:t>
            </a:r>
          </a:p>
        </p:txBody>
      </p:sp>
      <p:sp>
        <p:nvSpPr>
          <p:cNvPr id="11" name="Rounded Rectangle 10"/>
          <p:cNvSpPr/>
          <p:nvPr/>
        </p:nvSpPr>
        <p:spPr>
          <a:xfrm>
            <a:off x="4343400" y="1737360"/>
            <a:ext cx="3611880" cy="2377440"/>
          </a:xfrm>
          <a:prstGeom prst="roundRect">
            <a:avLst>
              <a:gd name="adj" fmla="val 6000"/>
            </a:avLst>
          </a:prstGeom>
          <a:solidFill>
            <a:srgbClr val="167E80"/>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874519"/>
            <a:ext cx="3246120" cy="457200"/>
          </a:xfrm>
          <a:prstGeom prst="rect">
            <a:avLst/>
          </a:prstGeom>
          <a:noFill/>
        </p:spPr>
        <p:txBody>
          <a:bodyPr wrap="square" anchor="t" lIns="45720" rIns="45720">
            <a:spAutoFit/>
          </a:bodyPr>
          <a:lstStyle/>
          <a:p>
            <a:pPr algn="l"/>
            <a:r>
              <a:rPr sz="2000" b="1">
                <a:solidFill>
                  <a:srgbClr val="FFFFFF"/>
                </a:solidFill>
                <a:latin typeface="Cambria"/>
              </a:rPr>
              <a:t>Vercel · frontend</a:t>
            </a:r>
          </a:p>
        </p:txBody>
      </p:sp>
      <p:sp>
        <p:nvSpPr>
          <p:cNvPr id="13" name="TextBox 12"/>
          <p:cNvSpPr txBox="1"/>
          <p:nvPr/>
        </p:nvSpPr>
        <p:spPr>
          <a:xfrm>
            <a:off x="4526280" y="2377439"/>
            <a:ext cx="3246120" cy="1645920"/>
          </a:xfrm>
          <a:prstGeom prst="rect">
            <a:avLst/>
          </a:prstGeom>
          <a:noFill/>
        </p:spPr>
        <p:txBody>
          <a:bodyPr wrap="square" anchor="t" lIns="45720" rIns="45720">
            <a:spAutoFit/>
          </a:bodyPr>
          <a:lstStyle/>
          <a:p>
            <a:pPr algn="l"/>
            <a:r>
              <a:rPr sz="1500" b="0">
                <a:solidFill>
                  <a:srgbClr val="FFFFFF"/>
                </a:solidFill>
                <a:latin typeface="Calibri"/>
              </a:rPr>
              <a:t>frontend-three-fawn-47.vercel.app · VITE_API_URL points at the judge</a:t>
            </a:r>
          </a:p>
        </p:txBody>
      </p:sp>
      <p:sp>
        <p:nvSpPr>
          <p:cNvPr id="14" name="Rounded Rectangle 13"/>
          <p:cNvSpPr/>
          <p:nvPr/>
        </p:nvSpPr>
        <p:spPr>
          <a:xfrm>
            <a:off x="8138160" y="1737360"/>
            <a:ext cx="3611880" cy="2377440"/>
          </a:xfrm>
          <a:prstGeom prst="roundRect">
            <a:avLst>
              <a:gd name="adj" fmla="val 6000"/>
            </a:avLst>
          </a:prstGeom>
          <a:solidFill>
            <a:srgbClr val="C6A36B"/>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874519"/>
            <a:ext cx="3246120" cy="457200"/>
          </a:xfrm>
          <a:prstGeom prst="rect">
            <a:avLst/>
          </a:prstGeom>
          <a:noFill/>
        </p:spPr>
        <p:txBody>
          <a:bodyPr wrap="square" anchor="t" lIns="45720" rIns="45720">
            <a:spAutoFit/>
          </a:bodyPr>
          <a:lstStyle/>
          <a:p>
            <a:pPr algn="l"/>
            <a:r>
              <a:rPr sz="2000" b="1">
                <a:solidFill>
                  <a:srgbClr val="12243A"/>
                </a:solidFill>
                <a:latin typeface="Cambria"/>
              </a:rPr>
              <a:t>Render · AI judge</a:t>
            </a:r>
          </a:p>
        </p:txBody>
      </p:sp>
      <p:sp>
        <p:nvSpPr>
          <p:cNvPr id="16" name="TextBox 15"/>
          <p:cNvSpPr txBox="1"/>
          <p:nvPr/>
        </p:nvSpPr>
        <p:spPr>
          <a:xfrm>
            <a:off x="8321040" y="2377439"/>
            <a:ext cx="3246120" cy="1645920"/>
          </a:xfrm>
          <a:prstGeom prst="rect">
            <a:avLst/>
          </a:prstGeom>
          <a:noFill/>
        </p:spPr>
        <p:txBody>
          <a:bodyPr wrap="square" anchor="t" lIns="45720" rIns="45720">
            <a:spAutoFit/>
          </a:bodyPr>
          <a:lstStyle/>
          <a:p>
            <a:pPr algn="l"/>
            <a:r>
              <a:rPr sz="1500" b="0">
                <a:solidFill>
                  <a:srgbClr val="12243A"/>
                </a:solidFill>
                <a:latin typeface="Calibri"/>
              </a:rPr>
              <a:t>wasl-arena.onrender.com · FastAPI + FFmpeg + OpenCV · secrets as env vars</a:t>
            </a:r>
          </a:p>
        </p:txBody>
      </p:sp>
      <p:sp>
        <p:nvSpPr>
          <p:cNvPr id="17" name="TextBox 16"/>
          <p:cNvSpPr txBox="1"/>
          <p:nvPr/>
        </p:nvSpPr>
        <p:spPr>
          <a:xfrm>
            <a:off x="548640" y="4389120"/>
            <a:ext cx="10972800" cy="2011680"/>
          </a:xfrm>
          <a:prstGeom prst="rect">
            <a:avLst/>
          </a:prstGeom>
          <a:noFill/>
        </p:spPr>
        <p:txBody>
          <a:bodyPr wrap="square">
            <a:spAutoFit/>
          </a:bodyPr>
          <a:lstStyle/>
          <a:p>
            <a:pPr>
              <a:spcAft>
                <a:spcPts val="800"/>
              </a:spcAft>
            </a:pPr>
            <a:r>
              <a:rPr sz="1200">
                <a:solidFill>
                  <a:srgbClr val="C6A36B"/>
                </a:solidFill>
              </a:rPr>
              <a:t>◆  </a:t>
            </a:r>
            <a:r>
              <a:rPr sz="1800" b="1">
                <a:solidFill>
                  <a:srgbClr val="26313C"/>
                </a:solidFill>
                <a:latin typeface="Calibri"/>
              </a:rPr>
              <a:t>Verified live:</a:t>
            </a:r>
            <a:r>
              <a:rPr sz="1800" b="0">
                <a:solidFill>
                  <a:srgbClr val="26313C"/>
                </a:solidFill>
                <a:latin typeface="Calibri"/>
              </a:rPr>
              <a:t> all routes load, badge shows “AI judge online”, a Falaj clip judged on the live backend = 11 pts, seal valid</a:t>
            </a:r>
          </a:p>
          <a:p>
            <a:pPr>
              <a:spcAft>
                <a:spcPts val="800"/>
              </a:spcAft>
            </a:pPr>
            <a:r>
              <a:rPr sz="1200">
                <a:solidFill>
                  <a:srgbClr val="C6A36B"/>
                </a:solidFill>
              </a:rPr>
              <a:t>◆  </a:t>
            </a:r>
            <a:r>
              <a:rPr sz="1800" b="0">
                <a:solidFill>
                  <a:srgbClr val="26313C"/>
                </a:solidFill>
                <a:latin typeface="Calibri"/>
              </a:rPr>
              <a:t>CORS locked to the Vercel origin · no secrets in the repository (.env git-ignored)</a:t>
            </a:r>
          </a:p>
          <a:p>
            <a:pPr>
              <a:spcAft>
                <a:spcPts val="800"/>
              </a:spcAft>
            </a:pPr>
            <a:r>
              <a:rPr sz="1200">
                <a:solidFill>
                  <a:srgbClr val="C6A36B"/>
                </a:solidFill>
              </a:rPr>
              <a:t>◆  </a:t>
            </a:r>
            <a:r>
              <a:rPr sz="1800" b="0">
                <a:solidFill>
                  <a:srgbClr val="26313C"/>
                </a:solidFill>
                <a:latin typeface="Calibri"/>
              </a:rPr>
              <a:t>Free tier: first request after idle can take ~30 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67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anchor="t" lIns="45720" rIns="45720">
            <a:spAutoFit/>
          </a:bodyPr>
          <a:lstStyle/>
          <a:p>
            <a:pPr algn="l"/>
            <a:r>
              <a:rPr sz="1200" b="1">
                <a:solidFill>
                  <a:srgbClr val="167E80"/>
                </a:solidFill>
                <a:latin typeface="Calibri"/>
              </a:rPr>
              <a:t>NEXT</a:t>
            </a:r>
          </a:p>
        </p:txBody>
      </p:sp>
      <p:sp>
        <p:nvSpPr>
          <p:cNvPr id="5" name="TextBox 4"/>
          <p:cNvSpPr txBox="1"/>
          <p:nvPr/>
        </p:nvSpPr>
        <p:spPr>
          <a:xfrm>
            <a:off x="548640" y="594360"/>
            <a:ext cx="11064240" cy="914400"/>
          </a:xfrm>
          <a:prstGeom prst="rect">
            <a:avLst/>
          </a:prstGeom>
          <a:noFill/>
        </p:spPr>
        <p:txBody>
          <a:bodyPr wrap="square" anchor="t" lIns="45720" rIns="45720">
            <a:spAutoFit/>
          </a:bodyPr>
          <a:lstStyle/>
          <a:p>
            <a:pPr algn="l"/>
            <a:r>
              <a:rPr sz="3400" b="1">
                <a:solidFill>
                  <a:srgbClr val="12243A"/>
                </a:solidFill>
                <a:latin typeface="Cambria"/>
              </a:rPr>
              <a:t>Limitations and future development</a:t>
            </a:r>
          </a:p>
        </p:txBody>
      </p:sp>
      <p:sp>
        <p:nvSpPr>
          <p:cNvPr id="6" name="TextBox 5"/>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26313C"/>
                </a:solidFill>
                <a:latin typeface="Calibri"/>
              </a:rPr>
              <a:t>29</a:t>
            </a:r>
          </a:p>
        </p:txBody>
      </p:sp>
      <p:sp>
        <p:nvSpPr>
          <p:cNvPr id="7" name="TextBox 6"/>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26313C"/>
                </a:solidFill>
                <a:latin typeface="Calibri"/>
              </a:rPr>
              <a:t>WASL Arena · Team 204 · Code AYUCK · Cycle 3 (grades 9-12) · May Ahmed Mourad, Shamsa Faris Almazrouei, Fatima Mohamed Almazrouei</a:t>
            </a:r>
          </a:p>
        </p:txBody>
      </p:sp>
      <p:sp>
        <p:nvSpPr>
          <p:cNvPr id="8" name="Rounded Rectangle 7"/>
          <p:cNvSpPr/>
          <p:nvPr/>
        </p:nvSpPr>
        <p:spPr>
          <a:xfrm>
            <a:off x="548640" y="1737360"/>
            <a:ext cx="5486400" cy="4206240"/>
          </a:xfrm>
          <a:prstGeom prst="roundRect">
            <a:avLst>
              <a:gd name="adj" fmla="val 6000"/>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5120640" cy="457200"/>
          </a:xfrm>
          <a:prstGeom prst="rect">
            <a:avLst/>
          </a:prstGeom>
          <a:noFill/>
        </p:spPr>
        <p:txBody>
          <a:bodyPr wrap="square" anchor="t" lIns="45720" rIns="45720">
            <a:spAutoFit/>
          </a:bodyPr>
          <a:lstStyle/>
          <a:p>
            <a:pPr algn="l"/>
            <a:r>
              <a:rPr sz="2000" b="1">
                <a:solidFill>
                  <a:srgbClr val="26313C"/>
                </a:solidFill>
                <a:latin typeface="Cambria"/>
              </a:rPr>
              <a:t>Limitations</a:t>
            </a:r>
          </a:p>
        </p:txBody>
      </p:sp>
      <p:sp>
        <p:nvSpPr>
          <p:cNvPr id="10" name="TextBox 9"/>
          <p:cNvSpPr txBox="1"/>
          <p:nvPr/>
        </p:nvSpPr>
        <p:spPr>
          <a:xfrm>
            <a:off x="731520" y="2377439"/>
            <a:ext cx="5120640" cy="3474720"/>
          </a:xfrm>
          <a:prstGeom prst="rect">
            <a:avLst/>
          </a:prstGeom>
          <a:noFill/>
        </p:spPr>
        <p:txBody>
          <a:bodyPr wrap="square" anchor="t" lIns="45720" rIns="45720">
            <a:spAutoFit/>
          </a:bodyPr>
          <a:lstStyle/>
          <a:p>
            <a:pPr algn="l"/>
            <a:r>
              <a:rPr sz="1500" b="0">
                <a:solidFill>
                  <a:srgbClr val="26313C"/>
                </a:solidFill>
                <a:latin typeface="Calibri"/>
              </a:rPr>
              <a:t>No real family footage evaluated yet</a:t>
            </a:r>
          </a:p>
          <a:p>
            <a:pPr algn="l"/>
            <a:r>
              <a:rPr sz="1500" b="0">
                <a:solidFill>
                  <a:srgbClr val="26313C"/>
                </a:solidFill>
                <a:latin typeface="Calibri"/>
              </a:rPr>
              <a:t>Controlled setup: fixed camera, bright ball</a:t>
            </a:r>
          </a:p>
          <a:p>
            <a:pPr algn="l"/>
            <a:r>
              <a:rPr sz="1500" b="0">
                <a:solidFill>
                  <a:srgbClr val="26313C"/>
                </a:solidFill>
                <a:latin typeface="Calibri"/>
              </a:rPr>
              <a:t>Colour segmentation is lighting-sensitive</a:t>
            </a:r>
          </a:p>
          <a:p>
            <a:pPr algn="l"/>
            <a:r>
              <a:rPr sz="1500" b="0">
                <a:solidFill>
                  <a:srgbClr val="26313C"/>
                </a:solidFill>
                <a:latin typeface="Calibri"/>
              </a:rPr>
              <a:t>Printed markers can be hidden or damaged</a:t>
            </a:r>
          </a:p>
          <a:p>
            <a:pPr algn="l"/>
            <a:r>
              <a:rPr sz="1500" b="0">
                <a:solidFill>
                  <a:srgbClr val="26313C"/>
                </a:solidFill>
                <a:latin typeface="Calibri"/>
              </a:rPr>
              <a:t>Speech timing ±~1 s; scores are heuristics</a:t>
            </a:r>
          </a:p>
        </p:txBody>
      </p:sp>
      <p:sp>
        <p:nvSpPr>
          <p:cNvPr id="11" name="Rounded Rectangle 10"/>
          <p:cNvSpPr/>
          <p:nvPr/>
        </p:nvSpPr>
        <p:spPr>
          <a:xfrm>
            <a:off x="6309360" y="1737360"/>
            <a:ext cx="5303520" cy="4206240"/>
          </a:xfrm>
          <a:prstGeom prst="roundRect">
            <a:avLst>
              <a:gd name="adj" fmla="val 6000"/>
            </a:avLst>
          </a:prstGeom>
          <a:solidFill>
            <a:srgbClr val="12243A"/>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74519"/>
            <a:ext cx="4937759" cy="457200"/>
          </a:xfrm>
          <a:prstGeom prst="rect">
            <a:avLst/>
          </a:prstGeom>
          <a:noFill/>
        </p:spPr>
        <p:txBody>
          <a:bodyPr wrap="square" anchor="t" lIns="45720" rIns="45720">
            <a:spAutoFit/>
          </a:bodyPr>
          <a:lstStyle/>
          <a:p>
            <a:pPr algn="l"/>
            <a:r>
              <a:rPr sz="2000" b="1">
                <a:solidFill>
                  <a:srgbClr val="F7F3EB"/>
                </a:solidFill>
                <a:latin typeface="Cambria"/>
              </a:rPr>
              <a:t>Future development</a:t>
            </a:r>
          </a:p>
        </p:txBody>
      </p:sp>
      <p:sp>
        <p:nvSpPr>
          <p:cNvPr id="13" name="TextBox 12"/>
          <p:cNvSpPr txBox="1"/>
          <p:nvPr/>
        </p:nvSpPr>
        <p:spPr>
          <a:xfrm>
            <a:off x="6492240" y="2377439"/>
            <a:ext cx="4937759" cy="3474720"/>
          </a:xfrm>
          <a:prstGeom prst="rect">
            <a:avLst/>
          </a:prstGeom>
          <a:noFill/>
        </p:spPr>
        <p:txBody>
          <a:bodyPr wrap="square" anchor="t" lIns="45720" rIns="45720">
            <a:spAutoFit/>
          </a:bodyPr>
          <a:lstStyle/>
          <a:p>
            <a:pPr algn="l"/>
            <a:r>
              <a:rPr sz="1500" b="0">
                <a:solidFill>
                  <a:srgbClr val="F7F3EB"/>
                </a:solidFill>
                <a:latin typeface="Calibri"/>
              </a:rPr>
              <a:t>Evaluate real footage for each game</a:t>
            </a:r>
          </a:p>
          <a:p>
            <a:pPr algn="l"/>
            <a:r>
              <a:rPr sz="1500" b="0">
                <a:solidFill>
                  <a:srgbClr val="F7F3EB"/>
                </a:solidFill>
                <a:latin typeface="Calibri"/>
              </a:rPr>
              <a:t>Pretrained detectors + jersey numbers</a:t>
            </a:r>
          </a:p>
          <a:p>
            <a:pPr algn="l"/>
            <a:r>
              <a:rPr sz="1500" b="0">
                <a:solidFill>
                  <a:srgbClr val="F7F3EB"/>
                </a:solidFill>
                <a:latin typeface="Calibri"/>
              </a:rPr>
              <a:t>Whistle / 'goal!' audio cues</a:t>
            </a:r>
          </a:p>
          <a:p>
            <a:pPr algn="l"/>
            <a:r>
              <a:rPr sz="1500" b="0">
                <a:solidFill>
                  <a:srgbClr val="F7F3EB"/>
                </a:solidFill>
                <a:latin typeface="Calibri"/>
              </a:rPr>
              <a:t>Host-defined games from the rule template</a:t>
            </a:r>
          </a:p>
          <a:p>
            <a:pPr algn="l"/>
            <a:r>
              <a:rPr sz="1500" b="0">
                <a:solidFill>
                  <a:srgbClr val="F7F3EB"/>
                </a:solidFill>
                <a:latin typeface="Calibri"/>
              </a:rPr>
              <a:t>More heritage games and languages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55680" y="6473952"/>
            <a:ext cx="822960" cy="274320"/>
          </a:xfrm>
          <a:prstGeom prst="rect">
            <a:avLst/>
          </a:prstGeom>
          <a:noFill/>
        </p:spPr>
        <p:txBody>
          <a:bodyPr wrap="square" anchor="t" lIns="45720" rIns="45720">
            <a:spAutoFit/>
          </a:bodyPr>
          <a:lstStyle/>
          <a:p>
            <a:pPr algn="r"/>
            <a:r>
              <a:rPr sz="1100" b="0">
                <a:solidFill>
                  <a:srgbClr val="C6A36B"/>
                </a:solidFill>
                <a:latin typeface="Calibri"/>
              </a:rPr>
              <a:t>30</a:t>
            </a:r>
          </a:p>
        </p:txBody>
      </p:sp>
      <p:sp>
        <p:nvSpPr>
          <p:cNvPr id="4" name="TextBox 3"/>
          <p:cNvSpPr txBox="1"/>
          <p:nvPr/>
        </p:nvSpPr>
        <p:spPr>
          <a:xfrm>
            <a:off x="548640" y="6473952"/>
            <a:ext cx="10424160" cy="274320"/>
          </a:xfrm>
          <a:prstGeom prst="rect">
            <a:avLst/>
          </a:prstGeom>
          <a:noFill/>
        </p:spPr>
        <p:txBody>
          <a:bodyPr wrap="square" anchor="t" lIns="45720" rIns="45720">
            <a:spAutoFit/>
          </a:bodyPr>
          <a:lstStyle/>
          <a:p>
            <a:pPr algn="l"/>
            <a:r>
              <a:rPr sz="1000" b="0">
                <a:solidFill>
                  <a:srgbClr val="F7F3EB"/>
                </a:solidFill>
                <a:latin typeface="Calibri"/>
              </a:rPr>
              <a:t>WASL Arena · Team 204 · Code AYUCK · Cycle 3 (grades 9-12) · May Ahmed Mourad, Shamsa Faris Almazrouei, Fatima Mohamed Almazrouei</a:t>
            </a:r>
          </a:p>
        </p:txBody>
      </p:sp>
      <p:sp>
        <p:nvSpPr>
          <p:cNvPr id="5" name="TextBox 4"/>
          <p:cNvSpPr txBox="1"/>
          <p:nvPr/>
        </p:nvSpPr>
        <p:spPr>
          <a:xfrm>
            <a:off x="731520" y="1280160"/>
            <a:ext cx="10515600" cy="914400"/>
          </a:xfrm>
          <a:prstGeom prst="rect">
            <a:avLst/>
          </a:prstGeom>
          <a:noFill/>
        </p:spPr>
        <p:txBody>
          <a:bodyPr wrap="square" anchor="t" lIns="45720" rIns="45720">
            <a:spAutoFit/>
          </a:bodyPr>
          <a:lstStyle/>
          <a:p>
            <a:pPr algn="l"/>
            <a:r>
              <a:rPr sz="5400" b="1">
                <a:solidFill>
                  <a:srgbClr val="F7F3EB"/>
                </a:solidFill>
                <a:latin typeface="Cambria"/>
              </a:rPr>
              <a:t>WASL Arena</a:t>
            </a:r>
          </a:p>
        </p:txBody>
      </p:sp>
      <p:sp>
        <p:nvSpPr>
          <p:cNvPr id="6" name="TextBox 5"/>
          <p:cNvSpPr txBox="1"/>
          <p:nvPr/>
        </p:nvSpPr>
        <p:spPr>
          <a:xfrm>
            <a:off x="731520" y="2377440"/>
            <a:ext cx="10515600" cy="1463040"/>
          </a:xfrm>
          <a:prstGeom prst="rect">
            <a:avLst/>
          </a:prstGeom>
          <a:noFill/>
        </p:spPr>
        <p:txBody>
          <a:bodyPr wrap="square" anchor="t" lIns="45720" rIns="45720">
            <a:spAutoFit/>
          </a:bodyPr>
          <a:lstStyle/>
          <a:p>
            <a:pPr algn="l"/>
            <a:r>
              <a:rPr sz="3200" b="0">
                <a:solidFill>
                  <a:srgbClr val="C6A36B"/>
                </a:solidFill>
                <a:latin typeface="Cambria"/>
              </a:rPr>
              <a:t>A fair referee shows its evidence, admits doubt, and lets people decide.</a:t>
            </a:r>
          </a:p>
        </p:txBody>
      </p:sp>
      <p:sp>
        <p:nvSpPr>
          <p:cNvPr id="7" name="TextBox 6"/>
          <p:cNvSpPr txBox="1"/>
          <p:nvPr/>
        </p:nvSpPr>
        <p:spPr>
          <a:xfrm>
            <a:off x="731520" y="3840480"/>
            <a:ext cx="6858000" cy="1828800"/>
          </a:xfrm>
          <a:prstGeom prst="rect">
            <a:avLst/>
          </a:prstGeom>
          <a:noFill/>
        </p:spPr>
        <p:txBody>
          <a:bodyPr wrap="square">
            <a:spAutoFit/>
          </a:bodyPr>
          <a:lstStyle/>
          <a:p>
            <a:pPr>
              <a:spcAft>
                <a:spcPts val="800"/>
              </a:spcAft>
            </a:pPr>
            <a:r>
              <a:rPr sz="1400">
                <a:solidFill>
                  <a:srgbClr val="C6A36B"/>
                </a:solidFill>
              </a:rPr>
              <a:t>◆  </a:t>
            </a:r>
            <a:r>
              <a:rPr sz="2000" b="0">
                <a:solidFill>
                  <a:srgbClr val="F7F3EB"/>
                </a:solidFill>
                <a:latin typeface="Calibri"/>
              </a:rPr>
              <a:t>Three games · team and individual</a:t>
            </a:r>
          </a:p>
          <a:p>
            <a:pPr>
              <a:spcAft>
                <a:spcPts val="800"/>
              </a:spcAft>
            </a:pPr>
            <a:r>
              <a:rPr sz="1400">
                <a:solidFill>
                  <a:srgbClr val="C6A36B"/>
                </a:solidFill>
              </a:rPr>
              <a:t>◆  </a:t>
            </a:r>
            <a:r>
              <a:rPr sz="2000" b="0">
                <a:solidFill>
                  <a:srgbClr val="F7F3EB"/>
                </a:solidFill>
                <a:latin typeface="Calibri"/>
              </a:rPr>
              <a:t>Real video/audio judging, explainable results</a:t>
            </a:r>
          </a:p>
          <a:p>
            <a:pPr>
              <a:spcAft>
                <a:spcPts val="800"/>
              </a:spcAft>
            </a:pPr>
            <a:r>
              <a:rPr sz="1400">
                <a:solidFill>
                  <a:srgbClr val="C6A36B"/>
                </a:solidFill>
              </a:rPr>
              <a:t>◆  </a:t>
            </a:r>
            <a:r>
              <a:rPr sz="2000" b="0">
                <a:solidFill>
                  <a:srgbClr val="F7F3EB"/>
                </a:solidFill>
                <a:latin typeface="Calibri"/>
              </a:rPr>
              <a:t>Interactive, inclusive, culturally meaningful, transparently fair</a:t>
            </a:r>
          </a:p>
        </p:txBody>
      </p:sp>
      <p:sp>
        <p:nvSpPr>
          <p:cNvPr id="8" name="TextBox 7"/>
          <p:cNvSpPr txBox="1"/>
          <p:nvPr/>
        </p:nvSpPr>
        <p:spPr>
          <a:xfrm>
            <a:off x="731520" y="5623560"/>
            <a:ext cx="7132320" cy="731520"/>
          </a:xfrm>
          <a:prstGeom prst="rect">
            <a:avLst/>
          </a:prstGeom>
          <a:noFill/>
        </p:spPr>
        <p:txBody>
          <a:bodyPr wrap="square" anchor="t" lIns="45720" rIns="45720">
            <a:spAutoFit/>
          </a:bodyPr>
          <a:lstStyle/>
          <a:p>
            <a:pPr algn="l"/>
            <a:r>
              <a:rPr sz="1400" b="1">
                <a:solidFill>
                  <a:srgbClr val="C6A36B"/>
                </a:solidFill>
                <a:latin typeface="Calibri"/>
              </a:rPr>
              <a:t>Team 204 · Code AYUCK · Cycle 3 (grades 9-12)</a:t>
            </a:r>
          </a:p>
          <a:p>
            <a:pPr algn="l"/>
            <a:r>
              <a:rPr sz="1400" b="1">
                <a:solidFill>
                  <a:srgbClr val="C6A36B"/>
                </a:solidFill>
                <a:latin typeface="Calibri"/>
              </a:rPr>
              <a:t>May Ahmed Mourad (G12) · Shamsa Faris Almazrouei (G12) · Fatima Mohamed Almazrouei (G11)</a:t>
            </a:r>
          </a:p>
        </p:txBody>
      </p:sp>
      <p:sp>
        <p:nvSpPr>
          <p:cNvPr id="9" name="Rectangle 8"/>
          <p:cNvSpPr/>
          <p:nvPr/>
        </p:nvSpPr>
        <p:spPr>
          <a:xfrm>
            <a:off x="7717536" y="3785616"/>
            <a:ext cx="4041648" cy="2567178"/>
          </a:xfrm>
          <a:prstGeom prst="rect">
            <a:avLst/>
          </a:prstGeom>
          <a:solidFill>
            <a:srgbClr val="FFFFFF"/>
          </a:solidFill>
          <a:ln>
            <a:solidFill>
              <a:srgbClr val="E3DC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0-cup.png"/>
          <p:cNvPicPr>
            <a:picLocks noChangeAspect="1"/>
          </p:cNvPicPr>
          <p:nvPr/>
        </p:nvPicPr>
        <p:blipFill>
          <a:blip r:embed="rId3"/>
          <a:stretch>
            <a:fillRect/>
          </a:stretch>
        </p:blipFill>
        <p:spPr>
          <a:xfrm>
            <a:off x="7772400" y="3840480"/>
            <a:ext cx="3931920" cy="2457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